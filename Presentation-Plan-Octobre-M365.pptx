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" id="{0366278c-c338-1f9d-c92b-e0a765b63882}">
          <p14:sldIdLst>
            <p14:sldId id="256"/>
          </p14:sldIdLst>
        </p14:section>
        <p14:section name="Octobre" id="{bcf5fe41-f68f-34ee-b7f9-f649bccc40a9}">
          <p14:sldIdLst>
            <p14:sldId id="257"/>
            <p14:sldId id="258"/>
            <p14:sldId id="259"/>
          </p14:sldIdLst>
        </p14:section>
        <p14:section name="Rencontres" id="{dc1e9020-94c0-7039-4593-dce4d265411c}">
          <p14:sldIdLst>
            <p14:sldId id="260"/>
          </p14:sldIdLst>
        </p14:section>
        <p14:section name="Réalisations" id="{d0378bd8-1aa6-5682-c865-5ecbe5ad728a}">
          <p14:sldIdLst>
            <p14:sldId id="261"/>
            <p14:sldId id="262"/>
            <p14:sldId id="263"/>
            <p14:sldId id="264"/>
          </p14:sldIdLst>
        </p14:section>
        <p14:section name="Feuille de route" id="{7c95d6db-041e-2c8a-ebf0-a9beb6d9d770}">
          <p14:sldIdLst>
            <p14:sldId id="265"/>
            <p14:sldId id="266"/>
          </p14:sldIdLst>
        </p14:section>
        <p14:section name="Conclusion" id="{ef34db88-5bcc-6062-0a8e-3c115285877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Gouvernance M365 : plan d'octobre et feuille de route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035040" y="-731520"/>
            <a:ext cx="4206240" cy="420624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Motif"/>
          <p:cNvSpPr/>
          <p:nvPr/>
        </p:nvSpPr>
        <p:spPr>
          <a:xfrm>
            <a:off x="7223760" y="2651760"/>
            <a:ext cx="3108960" cy="310896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d'octobre et feuille de route de 6 mois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Gouvernance Microsoft 365 : du 8 octobre 2026 à mi-avril 2027, avec une équipe de trois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Proposition à consolider avant transmission au comité exécutif ADM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 : décider vite, réaliser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 8 oct. 2026 au 16 avr. 2027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256032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h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capacité par semaine (30 + 30 + 21)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466344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rencontres en octobre, 10,5 h au total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676656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oct.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décision d'exécution par ADM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rencontres servent à décider, valider et débloquer, pas à produire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accès au tenant arrivent vers le 15 octobre : conception avant, configuration après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Préparation écrite : documents d'options de 2 pages envoyés 48 h avant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Configurations testées d'abord en environnement de test, activées en production après validation du sponsor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de trois, des rôles clairs</a:t>
            </a:r>
            <a:endParaRPr lang="en-US" sz="3000" dirty="0"/>
          </a:p>
        </p:txBody>
      </p:sp>
      <p:sp>
        <p:nvSpPr>
          <p:cNvPr id="3" name="Carte rôle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Architecte applicatif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30 h/sem.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Portail (Power Apps, Power Automate, Graph), gabarits SharePoint et Teams, étiquettes et rétention, registre des espaces</a:t>
            </a:r>
            <a:endParaRPr lang="en-US" sz="1300" dirty="0"/>
          </a:p>
        </p:txBody>
      </p:sp>
      <p:sp>
        <p:nvSpPr>
          <p:cNvPr id="7" name="Carte rôle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Architecte technologique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30 h/sem.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Inventaire du tenant, blocage de la création libre, partage externe, rapport de surpartage, accès conditionnel, identités applicatives</a:t>
            </a:r>
            <a:endParaRPr lang="en-US" sz="1300" dirty="0"/>
          </a:p>
        </p:txBody>
      </p:sp>
      <p:sp>
        <p:nvSpPr>
          <p:cNvPr id="11" name="Carte rôle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34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Chargé de projet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21 h/sem.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Pilotage et comités, recette du prototype, spécifications du catalogue, coordination sécurité / gestion documentaire / juridique, documentation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Octobre : avant et après l'obtention des accès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Avant les accès : 8 au 14 octobre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Cadrage, décisions D1 à D18, plan de 6 mois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Spécifications : portail, catalogue, nommage, gabarits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Brouillons : étiquettes, partage externe, accès conditionnel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Scripts d'inventaire écrits et prêts à lancer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Liste des rôles et permissions à demander (moindre privilège)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Après les accès : 15 au 30 octobre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Inventaire du tenant et rapport de surpartage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Blocage de la création libre : test, puis production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Prototype du portail : formulaire, flux, espace de test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Gabarit Équipe (v1) créé par code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Démonstration le 27 octobre, décision ADM le 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rencontres, 10,5 heures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731520"/>
                <a:gridCol w="32918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Durée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Rencontre et objectif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Participants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Jeu. 8 oct., 14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Lancement : portée, rôles, accès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Sponsor, AA, AT, CP, SEC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Ven. 9 oct., 9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h 30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Validation des décisions D1 à D18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Sponsor, AA, AT, CP, SEC, DIR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Ven. 16 oct., 10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Point no 1 : accès reçus ?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Sponsor, AA, AT, CP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Mer. 21 oct., 9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Atelier conception : portail, catalogue, gabarits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AA, AT, CP, GD, SEC, DIR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Jeu. 22 oct., 13 h 30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Atelier sécurité et conformité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AA, AT, CP, SEC, GD, JUR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Ven. 23 oct., 10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Point d'avancement no 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Sponsor, AA, AT, CP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Mar. 27 oct., 13 h 30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Revue des réalisations et démonstration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AA, AT, CP, TI, SEC, GD, DIR, Sponsor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Ven. 30 oct., 10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Comité exécutif ADM : décision d'exécution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Comité ADM, Sponsor, AA, AT, CP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AA = architecte applicatif · AT = architecte technologique · CP = chargé de projet · TI = équipe TI · SEC = sécurité · GD = gestion documentaire · JUR = juridique · DIR = directions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Réalisations d'octobre : 8 lots, 182 h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94560"/>
                <a:gridCol w="1371600"/>
                <a:gridCol w="356616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Lot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Réalisation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Période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Livrable mesurable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Heures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Cadrage et décisions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8 - 16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Charte, D1-D18 signées, plan de 6 mois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17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Spécifications (avant accès)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8 - 20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Portail, catalogue, nommage, gabarits ; brouillons étiquettes, partage externe, accès conditionnel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Préparation technique (avant accès)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8 - 16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Scripts d'inventaire ; rôles et permissions demandés ; plan de bascule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Inventaire et rapport de surpartage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15 - 23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100 % des sites, Groupes, Teams, invités ; 20 sites prioritaires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26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Blocage de la création libre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Test 19-21 ; prod. 26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 création libre pendant 2 semaines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Prototype du portail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16 - 30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Demande de bout en bout, création d'un espace de test conforme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39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Gabarit Équipe (v1)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20 - 30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gabarit en code, création en moins de 15 min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26 - 29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RACI, charte du comité, guide propriétaire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AA 72 h · AT 67 h · CP 43 h. Avec rencontres, préparation et pilotage : 237,5 h sur 259 h de capacité.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 des lots d'octobre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1005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8-9 oct.</a:t>
            </a:r>
            <a:endParaRPr lang="en-US" sz="1100" dirty="0"/>
          </a:p>
        </p:txBody>
      </p:sp>
      <p:sp>
        <p:nvSpPr>
          <p:cNvPr id="4" name="Repère semaine"/>
          <p:cNvSpPr/>
          <p:nvPr/>
        </p:nvSpPr>
        <p:spPr>
          <a:xfrm>
            <a:off x="3108960" y="1261872"/>
            <a:ext cx="0" cy="301752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21534" y="1005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13-16 oct.</a:t>
            </a:r>
            <a:endParaRPr lang="en-US" sz="1100" dirty="0"/>
          </a:p>
        </p:txBody>
      </p:sp>
      <p:sp>
        <p:nvSpPr>
          <p:cNvPr id="6" name="Repère semaine"/>
          <p:cNvSpPr/>
          <p:nvPr/>
        </p:nvSpPr>
        <p:spPr>
          <a:xfrm>
            <a:off x="4321534" y="1261872"/>
            <a:ext cx="0" cy="301752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76623" y="1005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19-23 oct.</a:t>
            </a:r>
            <a:endParaRPr lang="en-US" sz="1100" dirty="0"/>
          </a:p>
        </p:txBody>
      </p:sp>
      <p:sp>
        <p:nvSpPr>
          <p:cNvPr id="8" name="Repère semaine"/>
          <p:cNvSpPr/>
          <p:nvPr/>
        </p:nvSpPr>
        <p:spPr>
          <a:xfrm>
            <a:off x="5776623" y="1261872"/>
            <a:ext cx="0" cy="301752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74226" y="1005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26-30 oct.</a:t>
            </a:r>
            <a:endParaRPr lang="en-US" sz="1100" dirty="0"/>
          </a:p>
        </p:txBody>
      </p:sp>
      <p:sp>
        <p:nvSpPr>
          <p:cNvPr id="10" name="Repère semaine"/>
          <p:cNvSpPr/>
          <p:nvPr/>
        </p:nvSpPr>
        <p:spPr>
          <a:xfrm>
            <a:off x="7474226" y="1261872"/>
            <a:ext cx="0" cy="301752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1" name="Repère accès"/>
          <p:cNvSpPr/>
          <p:nvPr/>
        </p:nvSpPr>
        <p:spPr>
          <a:xfrm>
            <a:off x="4806563" y="1261872"/>
            <a:ext cx="0" cy="30175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52283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Accès ≈ 15 oct.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325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Cadrage et décisions</a:t>
            </a:r>
            <a:endParaRPr lang="en-US" sz="1200" dirty="0"/>
          </a:p>
        </p:txBody>
      </p:sp>
      <p:sp>
        <p:nvSpPr>
          <p:cNvPr id="14" name="Barre lot"/>
          <p:cNvSpPr/>
          <p:nvPr/>
        </p:nvSpPr>
        <p:spPr>
          <a:xfrm>
            <a:off x="3108960" y="1353312"/>
            <a:ext cx="1697603" cy="219456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Spécifications</a:t>
            </a:r>
            <a:endParaRPr lang="en-US" sz="1200" dirty="0"/>
          </a:p>
        </p:txBody>
      </p:sp>
      <p:sp>
        <p:nvSpPr>
          <p:cNvPr id="16" name="Barre lot"/>
          <p:cNvSpPr/>
          <p:nvPr/>
        </p:nvSpPr>
        <p:spPr>
          <a:xfrm>
            <a:off x="3108960" y="1719072"/>
            <a:ext cx="3152692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Préparation technique</a:t>
            </a:r>
            <a:endParaRPr lang="en-US" sz="1200" dirty="0"/>
          </a:p>
        </p:txBody>
      </p:sp>
      <p:sp>
        <p:nvSpPr>
          <p:cNvPr id="18" name="Barre lot"/>
          <p:cNvSpPr/>
          <p:nvPr/>
        </p:nvSpPr>
        <p:spPr>
          <a:xfrm>
            <a:off x="3108960" y="2084832"/>
            <a:ext cx="1697603" cy="219456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 Inventaire et surpartage</a:t>
            </a:r>
            <a:endParaRPr lang="en-US" sz="1200" dirty="0"/>
          </a:p>
        </p:txBody>
      </p:sp>
      <p:sp>
        <p:nvSpPr>
          <p:cNvPr id="20" name="Barre lot"/>
          <p:cNvSpPr/>
          <p:nvPr/>
        </p:nvSpPr>
        <p:spPr>
          <a:xfrm>
            <a:off x="4806563" y="2450592"/>
            <a:ext cx="2182633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 Blocage création libre</a:t>
            </a:r>
            <a:endParaRPr lang="en-US" sz="1200" dirty="0"/>
          </a:p>
        </p:txBody>
      </p:sp>
      <p:sp>
        <p:nvSpPr>
          <p:cNvPr id="22" name="Barre lot"/>
          <p:cNvSpPr/>
          <p:nvPr/>
        </p:nvSpPr>
        <p:spPr>
          <a:xfrm>
            <a:off x="5776623" y="2816352"/>
            <a:ext cx="1940118" cy="219456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 Prototype du portail</a:t>
            </a:r>
            <a:endParaRPr lang="en-US" sz="1200" dirty="0"/>
          </a:p>
        </p:txBody>
      </p:sp>
      <p:sp>
        <p:nvSpPr>
          <p:cNvPr id="24" name="Barre lot"/>
          <p:cNvSpPr/>
          <p:nvPr/>
        </p:nvSpPr>
        <p:spPr>
          <a:xfrm>
            <a:off x="5049078" y="3182112"/>
            <a:ext cx="3637722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 Gabarit Équipe (v1)</a:t>
            </a:r>
            <a:endParaRPr lang="en-US" sz="1200" dirty="0"/>
          </a:p>
        </p:txBody>
      </p:sp>
      <p:sp>
        <p:nvSpPr>
          <p:cNvPr id="26" name="Barre lot"/>
          <p:cNvSpPr/>
          <p:nvPr/>
        </p:nvSpPr>
        <p:spPr>
          <a:xfrm>
            <a:off x="6019137" y="3547872"/>
            <a:ext cx="2667663" cy="219456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8. Documentation</a:t>
            </a:r>
            <a:endParaRPr lang="en-US" sz="1200" dirty="0"/>
          </a:p>
        </p:txBody>
      </p:sp>
      <p:sp>
        <p:nvSpPr>
          <p:cNvPr id="28" name="Barre lot"/>
          <p:cNvSpPr/>
          <p:nvPr/>
        </p:nvSpPr>
        <p:spPr>
          <a:xfrm>
            <a:off x="7474226" y="3913632"/>
            <a:ext cx="970059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Rencontres : 8 (lancement), 9 (décisions), 21-22 (ateliers), 27 (démonstration), 30 (comité ADM)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Capacité d'octobre et risques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28016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Capacité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Période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Charge planifiée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Marge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Architecte applicatif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 h/sem.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88,5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Architecte technologique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 h/sem.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Chargé de projet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 h/sem.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67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 équipe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81 h/sem.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259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237,5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21,5 h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te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Si les accès arrivent en retard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4564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marge des architectes (20 h) absorbe environ 3 jours. Au-delà du 20 octobre : gabarit Équipe reporté en novembre, démonstration sur maquettes et rapports.</a:t>
            </a:r>
            <a:endParaRPr lang="en-US" sz="1200" dirty="0"/>
          </a:p>
        </p:txBody>
      </p:sp>
      <p:sp>
        <p:nvSpPr>
          <p:cNvPr id="7" name="Carte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Appui hors équipe : environ 48 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34564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Sécurité ~20 h, gestion documentaire ~17 h, TI (administration) ~8 h, juridique ~3 h ; directions et sponsor aux rencontres.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livré le 30 octobre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Décisions D1 à D18 signées et plan de projet de 6 mois</a:t>
            </a:r>
            <a:endParaRPr lang="en-US" sz="1300" dirty="0"/>
          </a:p>
        </p:txBody>
      </p:sp>
      <p:sp>
        <p:nvSpPr>
          <p:cNvPr id="7" name="Carte"/>
          <p:cNvSpPr/>
          <p:nvPr/>
        </p:nvSpPr>
        <p:spPr>
          <a:xfrm>
            <a:off x="466344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tille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Spécifications du portail, du catalogue, du nommage et des gabarits</a:t>
            </a:r>
            <a:endParaRPr lang="en-US" sz="1300" dirty="0"/>
          </a:p>
        </p:txBody>
      </p:sp>
      <p:sp>
        <p:nvSpPr>
          <p:cNvPr id="11" name="Carte"/>
          <p:cNvSpPr/>
          <p:nvPr/>
        </p:nvSpPr>
        <p:spPr>
          <a:xfrm>
            <a:off x="457200" y="193852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594360" y="207568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84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Inventaire du tenant et rapport de surpartage priorisé</a:t>
            </a:r>
            <a:endParaRPr lang="en-US" sz="1300" dirty="0"/>
          </a:p>
        </p:txBody>
      </p:sp>
      <p:sp>
        <p:nvSpPr>
          <p:cNvPr id="15" name="Carte"/>
          <p:cNvSpPr/>
          <p:nvPr/>
        </p:nvSpPr>
        <p:spPr>
          <a:xfrm>
            <a:off x="4663440" y="193852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4800600" y="2075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984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Création libre bloquée en production</a:t>
            </a:r>
            <a:endParaRPr lang="en-US" sz="1300" dirty="0"/>
          </a:p>
        </p:txBody>
      </p:sp>
      <p:sp>
        <p:nvSpPr>
          <p:cNvPr id="19" name="Carte"/>
          <p:cNvSpPr/>
          <p:nvPr/>
        </p:nvSpPr>
        <p:spPr>
          <a:xfrm>
            <a:off x="457200" y="2779776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594360" y="291693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254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Prototype de portail fonctionnel, de la demande à l'espace de test créé</a:t>
            </a:r>
            <a:endParaRPr lang="en-US" sz="1300" dirty="0"/>
          </a:p>
        </p:txBody>
      </p:sp>
      <p:sp>
        <p:nvSpPr>
          <p:cNvPr id="23" name="Carte"/>
          <p:cNvSpPr/>
          <p:nvPr/>
        </p:nvSpPr>
        <p:spPr>
          <a:xfrm>
            <a:off x="4663440" y="2779776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4800600" y="29169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8254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Gabarit Équipe (v1) créé par code</a:t>
            </a:r>
            <a:endParaRPr lang="en-US" sz="1300" dirty="0"/>
          </a:p>
        </p:txBody>
      </p:sp>
      <p:sp>
        <p:nvSpPr>
          <p:cNvPr id="27" name="Carte"/>
          <p:cNvSpPr/>
          <p:nvPr/>
        </p:nvSpPr>
        <p:spPr>
          <a:xfrm>
            <a:off x="457200" y="3621024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astille"/>
          <p:cNvSpPr/>
          <p:nvPr/>
        </p:nvSpPr>
        <p:spPr>
          <a:xfrm>
            <a:off x="594360" y="375818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6667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RACI, charte du comité de gouvernance, guide propriétaire</a:t>
            </a:r>
            <a:endParaRPr lang="en-US" sz="1300" dirty="0"/>
          </a:p>
        </p:txBody>
      </p:sp>
      <p:sp>
        <p:nvSpPr>
          <p:cNvPr id="31" name="Carte"/>
          <p:cNvSpPr/>
          <p:nvPr/>
        </p:nvSpPr>
        <p:spPr>
          <a:xfrm>
            <a:off x="4663440" y="3621024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Pastille"/>
          <p:cNvSpPr/>
          <p:nvPr/>
        </p:nvSpPr>
        <p:spPr>
          <a:xfrm>
            <a:off x="4800600" y="37581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6667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Demande d'accès et de rôles documentée (moindre privilège)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: six mois, six phases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953512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Oct.</a:t>
            </a:r>
            <a:endParaRPr lang="en-US" sz="1100" dirty="0"/>
          </a:p>
        </p:txBody>
      </p:sp>
      <p:sp>
        <p:nvSpPr>
          <p:cNvPr id="4" name="Repère mois"/>
          <p:cNvSpPr/>
          <p:nvPr/>
        </p:nvSpPr>
        <p:spPr>
          <a:xfrm>
            <a:off x="2926080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77372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Nov.</a:t>
            </a:r>
            <a:endParaRPr lang="en-US" sz="1100" dirty="0"/>
          </a:p>
        </p:txBody>
      </p:sp>
      <p:sp>
        <p:nvSpPr>
          <p:cNvPr id="6" name="Repère mois"/>
          <p:cNvSpPr/>
          <p:nvPr/>
        </p:nvSpPr>
        <p:spPr>
          <a:xfrm>
            <a:off x="3649940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197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Déc.</a:t>
            </a:r>
            <a:endParaRPr lang="en-US" sz="1100" dirty="0"/>
          </a:p>
        </p:txBody>
      </p:sp>
      <p:sp>
        <p:nvSpPr>
          <p:cNvPr id="8" name="Repère mois"/>
          <p:cNvSpPr/>
          <p:nvPr/>
        </p:nvSpPr>
        <p:spPr>
          <a:xfrm>
            <a:off x="4554765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17183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Janv.</a:t>
            </a:r>
            <a:endParaRPr lang="en-US" sz="1100" dirty="0"/>
          </a:p>
        </p:txBody>
      </p:sp>
      <p:sp>
        <p:nvSpPr>
          <p:cNvPr id="10" name="Repère mois"/>
          <p:cNvSpPr/>
          <p:nvPr/>
        </p:nvSpPr>
        <p:spPr>
          <a:xfrm>
            <a:off x="5489751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2169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Févr.</a:t>
            </a:r>
            <a:endParaRPr lang="en-US" sz="1100" dirty="0"/>
          </a:p>
        </p:txBody>
      </p:sp>
      <p:sp>
        <p:nvSpPr>
          <p:cNvPr id="12" name="Repère mois"/>
          <p:cNvSpPr/>
          <p:nvPr/>
        </p:nvSpPr>
        <p:spPr>
          <a:xfrm>
            <a:off x="6424737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96673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Mars</a:t>
            </a:r>
            <a:endParaRPr lang="en-US" sz="1100" dirty="0"/>
          </a:p>
        </p:txBody>
      </p:sp>
      <p:sp>
        <p:nvSpPr>
          <p:cNvPr id="14" name="Repère mois"/>
          <p:cNvSpPr/>
          <p:nvPr/>
        </p:nvSpPr>
        <p:spPr>
          <a:xfrm>
            <a:off x="7269241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1659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Avr.</a:t>
            </a:r>
            <a:endParaRPr lang="en-US" sz="1100" dirty="0"/>
          </a:p>
        </p:txBody>
      </p:sp>
      <p:sp>
        <p:nvSpPr>
          <p:cNvPr id="16" name="Repère mois"/>
          <p:cNvSpPr/>
          <p:nvPr/>
        </p:nvSpPr>
        <p:spPr>
          <a:xfrm>
            <a:off x="8204227" y="1261872"/>
            <a:ext cx="0" cy="3154680"/>
          </a:xfrm>
          <a:prstGeom prst="line">
            <a:avLst/>
          </a:prstGeom>
          <a:noFill/>
          <a:ln w="9525">
            <a:solidFill>
              <a:srgbClr val="D5DDE3"/>
            </a:solidFill>
            <a:prstDash val="solid"/>
          </a:ln>
        </p:spPr>
      </p:sp>
      <p:sp>
        <p:nvSpPr>
          <p:cNvPr id="17" name="Congés"/>
          <p:cNvSpPr/>
          <p:nvPr/>
        </p:nvSpPr>
        <p:spPr>
          <a:xfrm>
            <a:off x="5157982" y="1261872"/>
            <a:ext cx="331769" cy="3154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66542" y="4160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Congés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0. Cadrage et prototype</a:t>
            </a:r>
            <a:endParaRPr lang="en-US" sz="1200" dirty="0"/>
          </a:p>
        </p:txBody>
      </p:sp>
      <p:sp>
        <p:nvSpPr>
          <p:cNvPr id="20" name="Barre phase"/>
          <p:cNvSpPr/>
          <p:nvPr/>
        </p:nvSpPr>
        <p:spPr>
          <a:xfrm>
            <a:off x="2926080" y="1408176"/>
            <a:ext cx="693699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1. Bloquer et stabiliser</a:t>
            </a:r>
            <a:endParaRPr lang="en-US" sz="1200" dirty="0"/>
          </a:p>
        </p:txBody>
      </p:sp>
      <p:sp>
        <p:nvSpPr>
          <p:cNvPr id="22" name="Barre phase"/>
          <p:cNvSpPr/>
          <p:nvPr/>
        </p:nvSpPr>
        <p:spPr>
          <a:xfrm>
            <a:off x="3680101" y="1865376"/>
            <a:ext cx="78418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Portail et gabarits</a:t>
            </a:r>
            <a:endParaRPr lang="en-US" sz="1200" dirty="0"/>
          </a:p>
        </p:txBody>
      </p:sp>
      <p:sp>
        <p:nvSpPr>
          <p:cNvPr id="24" name="Barre phase"/>
          <p:cNvSpPr/>
          <p:nvPr/>
        </p:nvSpPr>
        <p:spPr>
          <a:xfrm>
            <a:off x="4524604" y="2322576"/>
            <a:ext cx="1417559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3. Purview et conformité</a:t>
            </a:r>
            <a:endParaRPr lang="en-US" sz="1200" dirty="0"/>
          </a:p>
        </p:txBody>
      </p:sp>
      <p:sp>
        <p:nvSpPr>
          <p:cNvPr id="26" name="Barre phase"/>
          <p:cNvSpPr/>
          <p:nvPr/>
        </p:nvSpPr>
        <p:spPr>
          <a:xfrm>
            <a:off x="6002485" y="2779776"/>
            <a:ext cx="1206434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4. Préparation Copilot</a:t>
            </a:r>
            <a:endParaRPr lang="en-US" sz="1200" dirty="0"/>
          </a:p>
        </p:txBody>
      </p:sp>
      <p:sp>
        <p:nvSpPr>
          <p:cNvPr id="28" name="Barre phase"/>
          <p:cNvSpPr/>
          <p:nvPr/>
        </p:nvSpPr>
        <p:spPr>
          <a:xfrm>
            <a:off x="7269241" y="3236976"/>
            <a:ext cx="934986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5. Déploiement et transfert</a:t>
            </a:r>
            <a:endParaRPr lang="en-US" sz="1200" dirty="0"/>
          </a:p>
        </p:txBody>
      </p:sp>
      <p:sp>
        <p:nvSpPr>
          <p:cNvPr id="30" name="Barre phase"/>
          <p:cNvSpPr/>
          <p:nvPr/>
        </p:nvSpPr>
        <p:spPr>
          <a:xfrm>
            <a:off x="8204227" y="3694176"/>
            <a:ext cx="482573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Comités ADM</a:t>
            </a:r>
            <a:endParaRPr lang="en-US" sz="1200" dirty="0"/>
          </a:p>
        </p:txBody>
      </p:sp>
      <p:sp>
        <p:nvSpPr>
          <p:cNvPr id="32" name="Jalon"/>
          <p:cNvSpPr/>
          <p:nvPr/>
        </p:nvSpPr>
        <p:spPr>
          <a:xfrm>
            <a:off x="3507322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23858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30 oct.</a:t>
            </a:r>
            <a:endParaRPr lang="en-US" sz="900" dirty="0"/>
          </a:p>
        </p:txBody>
      </p:sp>
      <p:sp>
        <p:nvSpPr>
          <p:cNvPr id="34" name="Jalon"/>
          <p:cNvSpPr/>
          <p:nvPr/>
        </p:nvSpPr>
        <p:spPr>
          <a:xfrm>
            <a:off x="4351826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68362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27 nov.</a:t>
            </a:r>
            <a:endParaRPr lang="en-US" sz="900" dirty="0"/>
          </a:p>
        </p:txBody>
      </p:sp>
      <p:sp>
        <p:nvSpPr>
          <p:cNvPr id="36" name="Jalon"/>
          <p:cNvSpPr/>
          <p:nvPr/>
        </p:nvSpPr>
        <p:spPr>
          <a:xfrm>
            <a:off x="5829707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46243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15 janv.</a:t>
            </a:r>
            <a:endParaRPr lang="en-US" sz="900" dirty="0"/>
          </a:p>
        </p:txBody>
      </p:sp>
      <p:sp>
        <p:nvSpPr>
          <p:cNvPr id="38" name="Jalon"/>
          <p:cNvSpPr/>
          <p:nvPr/>
        </p:nvSpPr>
        <p:spPr>
          <a:xfrm>
            <a:off x="7096462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998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26 févr.</a:t>
            </a:r>
            <a:endParaRPr lang="en-US" sz="900" dirty="0"/>
          </a:p>
        </p:txBody>
      </p:sp>
      <p:sp>
        <p:nvSpPr>
          <p:cNvPr id="40" name="Jalon"/>
          <p:cNvSpPr/>
          <p:nvPr/>
        </p:nvSpPr>
        <p:spPr>
          <a:xfrm>
            <a:off x="8091770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08306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31 mars</a:t>
            </a:r>
            <a:endParaRPr lang="en-US" sz="900" dirty="0"/>
          </a:p>
        </p:txBody>
      </p:sp>
      <p:sp>
        <p:nvSpPr>
          <p:cNvPr id="42" name="Jalon"/>
          <p:cNvSpPr/>
          <p:nvPr/>
        </p:nvSpPr>
        <p:spPr>
          <a:xfrm>
            <a:off x="8574343" y="4142232"/>
            <a:ext cx="164592" cy="164592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90879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16 avr.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et charge des phases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463040"/>
                <a:gridCol w="466344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Période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Livrables clés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Charge / capacité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8 - 30 oct.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Décisions, spécifications, inventaire, blocage, prototype, gabarit Équipe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238 h / 259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2 - 27 nov.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Portail pilote, gabarits Équipe et Projet, registre, partage externe en test, accès conditionnel (rapport)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252 h / 324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 nov. - 15 janv.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Portail en production, 3 gabarits, OneDrive restrictif, modèles Teams, partage externe sécurisé, étiquettes publiées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308 h / 405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 janv. - 26 févr.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DLP, rétention, audit, revues d'accès, assainissement du partage externe, cycle de vie automatisé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350 h / 486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1 - 31 mars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Nettoyage des accès, SAM (RCD, RAC), DSPM, DLP Copilot, pilote 100 à 300 utilisateurs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301 h / 365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1 - 16 avr.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Déploiement par vagues, formation, comité permanent, transfert à l'exploitation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140 h / 186 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Total : environ 1 589 h planifiées sur 2 025 h de capacité (78 %). Les 22 % restants couvrent congés, support et imprévus. Estimations de novembre à avril à affiner fin octobre.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demandons à ADM</a:t>
            </a:r>
            <a:endParaRPr lang="en-US" sz="3200" dirty="0"/>
          </a:p>
        </p:txBody>
      </p:sp>
      <p:sp>
        <p:nvSpPr>
          <p:cNvPr id="4" name="Pastille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Obtenir les accès au tenant d'ici le 15 octobre, avec les rôles précis demandés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40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Confirmer la capacité de l'équipe (30 h, 30 h, 21 h par semaine) pour 6 mois et l'appui sécurité, gestion documentaire et TI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Fournir un environnement de test et réserver les 8 rencontres d'octobre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Réserver un comité exécutif à la fin de chaque phase (30 oct., 27 nov., 15 janv., 26 févr., 31 mars, 16 avr.)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ance M365">
  <a:themeElements>
    <a:clrScheme name="Gouvernance M365">
      <a:dk1>
        <a:srgbClr val="14212B"/>
      </a:dk1>
      <a:lt1>
        <a:srgbClr val="FFFFFF"/>
      </a:lt1>
      <a:dk2>
        <a:srgbClr val="0B3C49"/>
      </a:dk2>
      <a:lt2>
        <a:srgbClr val="EEF3F6"/>
      </a:lt2>
      <a:accent1>
        <a:srgbClr val="0F7C8C"/>
      </a:accent1>
      <a:accent2>
        <a:srgbClr val="F2A541"/>
      </a:accent2>
      <a:accent3>
        <a:srgbClr val="C8553D"/>
      </a:accent3>
      <a:accent4>
        <a:srgbClr val="5B8E7D"/>
      </a:accent4>
      <a:accent5>
        <a:srgbClr val="3D5A80"/>
      </a:accent5>
      <a:accent6>
        <a:srgbClr val="8D99AE"/>
      </a:accent6>
      <a:hlink>
        <a:srgbClr val="0F7C8C"/>
      </a:hlink>
      <a:folHlink>
        <a:srgbClr val="8D99AE"/>
      </a:folHlink>
    </a:clrScheme>
    <a:fontScheme name="Gouvernance M36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Gouvernance M365 - plan d octobre et feuille de route de 6 mois</dc:title>
  <dc:subject>PptxGenJS Presentation</dc:subject>
  <dc:creator>Architecture Microsoft 365</dc:creator>
  <cp:lastModifiedBy>Architecture Microsoft 365</cp:lastModifiedBy>
  <cp:revision>1</cp:revision>
  <dcterms:created xsi:type="dcterms:W3CDTF">2026-10-08T21:48:31Z</dcterms:created>
  <dcterms:modified xsi:type="dcterms:W3CDTF">2026-10-08T21:48:31Z</dcterms:modified>
</cp:coreProperties>
</file>