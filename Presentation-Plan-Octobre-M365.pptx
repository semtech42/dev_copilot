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lan" id="{702134fc-30bf-bea9-4a86-7924fde4b4f4}">
          <p14:sldIdLst>
            <p14:sldId id="256"/>
          </p14:sldIdLst>
        </p14:section>
        <p14:section name="Vue d'ensemble" id="{f18db184-2e51-f780-4de7-d2b64efb1ff2}">
          <p14:sldIdLst>
            <p14:sldId id="257"/>
            <p14:sldId id="258"/>
            <p14:sldId id="259"/>
          </p14:sldIdLst>
        </p14:section>
        <p14:section name="Rencontres" id="{c0ffc1e8-2a57-fa5b-d701-106402efa744}">
          <p14:sldIdLst>
            <p14:sldId id="260"/>
          </p14:sldIdLst>
        </p14:section>
        <p14:section name="Réalisations" id="{d0405abb-9211-c140-4d44-7a1baca6c1a6}">
          <p14:sldIdLst>
            <p14:sldId id="261"/>
            <p14:sldId id="262"/>
            <p14:sldId id="263"/>
          </p14:sldIdLst>
        </p14:section>
        <p14:section name="Ressources et suite" id="{d39431ba-7aab-044e-98a3-c0868e0375e0}">
          <p14:sldIdLst>
            <p14:sldId id="264"/>
            <p14:sldId id="265"/>
            <p14:sldId id="266"/>
          </p14:sldIdLst>
        </p14:section>
        <p14:section name="Conclusion" id="{936b0b01-f271-dfc7-eb9d-5f5fcdc04b3b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Plan de travail M365 : 8 au 30 octobre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"/>
          <p:cNvSpPr/>
          <p:nvPr/>
        </p:nvSpPr>
        <p:spPr>
          <a:xfrm>
            <a:off x="6035040" y="-731520"/>
            <a:ext cx="4206240" cy="4206240"/>
          </a:xfrm>
          <a:prstGeom prst="ellipse">
            <a:avLst/>
          </a:prstGeom>
          <a:solidFill>
            <a:schemeClr val="accent1">
              <a:alpha val="6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Motif"/>
          <p:cNvSpPr/>
          <p:nvPr/>
        </p:nvSpPr>
        <p:spPr>
          <a:xfrm>
            <a:off x="7223760" y="2651760"/>
            <a:ext cx="3108960" cy="3108960"/>
          </a:xfrm>
          <a:prstGeom prst="ellipse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travail et rencontres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au 30 octobre 2026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Gouvernance Microsoft 365 : moins de rencontres, plus de réalisations concrètes et mesurables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Proposition à consolider avant transmission au comité exécutif ADM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principe : décider vite, réaliser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45720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10,5 h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03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 8 rencontres (au lieu de 31 h)</a:t>
            </a:r>
            <a:endParaRPr lang="en-US" sz="1300" dirty="0"/>
          </a:p>
        </p:txBody>
      </p:sp>
      <p:sp>
        <p:nvSpPr>
          <p:cNvPr id="6" name="Carte"/>
          <p:cNvSpPr/>
          <p:nvPr/>
        </p:nvSpPr>
        <p:spPr>
          <a:xfrm>
            <a:off x="256032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03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lots de réalisations livrables</a:t>
            </a:r>
            <a:endParaRPr lang="en-US" sz="1300" dirty="0"/>
          </a:p>
        </p:txBody>
      </p:sp>
      <p:sp>
        <p:nvSpPr>
          <p:cNvPr id="9" name="Carte"/>
          <p:cNvSpPr/>
          <p:nvPr/>
        </p:nvSpPr>
        <p:spPr>
          <a:xfrm>
            <a:off x="466344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254 h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travail planifié, sur 259 h de capacité</a:t>
            </a:r>
            <a:endParaRPr lang="en-US" sz="1300" dirty="0"/>
          </a:p>
        </p:txBody>
      </p:sp>
      <p:sp>
        <p:nvSpPr>
          <p:cNvPr id="12" name="Carte"/>
          <p:cNvSpPr/>
          <p:nvPr/>
        </p:nvSpPr>
        <p:spPr>
          <a:xfrm>
            <a:off x="676656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oct.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103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décision d'exécution par ADM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632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Les rencontres servent à décider, valider et débloquer, pas à produire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Préparation écrite : documents d'options de 2 pages envoyés 48 h avant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Décisions de détail par courriel sous 24 h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Équipe : 2 architectes à 30 h/sem. et un chargé de projet à 21 h/sem.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Configurations testées d'abord en environnement de test, activées en production après validation du sponsor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semaines, du cadrage à la décision</a:t>
            </a:r>
            <a:endParaRPr lang="en-US" sz="3000" dirty="0"/>
          </a:p>
        </p:txBody>
      </p:sp>
      <p:sp>
        <p:nvSpPr>
          <p:cNvPr id="3" name="Semaine"/>
          <p:cNvSpPr/>
          <p:nvPr/>
        </p:nvSpPr>
        <p:spPr>
          <a:xfrm>
            <a:off x="457200" y="109728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8-9 oct.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Cadrage et décisions</a:t>
            </a:r>
            <a:endParaRPr lang="en-US" sz="1600" dirty="0"/>
          </a:p>
        </p:txBody>
      </p:sp>
      <p:sp>
        <p:nvSpPr>
          <p:cNvPr id="5" name="Carte"/>
          <p:cNvSpPr/>
          <p:nvPr/>
        </p:nvSpPr>
        <p:spPr>
          <a:xfrm>
            <a:off x="457200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Rencontres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Rencontres 1, 2</a:t>
            </a:r>
            <a:endParaRPr lang="en-US" sz="1200" dirty="0"/>
          </a:p>
        </p:txBody>
      </p:sp>
      <p:sp>
        <p:nvSpPr>
          <p:cNvPr id="8" name="Carte"/>
          <p:cNvSpPr/>
          <p:nvPr/>
        </p:nvSpPr>
        <p:spPr>
          <a:xfrm>
            <a:off x="457200" y="306324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50215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Lot 1 : inventaire (démarrage)</a:t>
            </a:r>
            <a:endParaRPr lang="en-US" sz="1200" dirty="0"/>
          </a:p>
        </p:txBody>
      </p:sp>
      <p:sp>
        <p:nvSpPr>
          <p:cNvPr id="11" name="Semaine"/>
          <p:cNvSpPr/>
          <p:nvPr/>
        </p:nvSpPr>
        <p:spPr>
          <a:xfrm>
            <a:off x="2560320" y="109728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13-16 oct.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Mise en route</a:t>
            </a:r>
            <a:endParaRPr lang="en-US" sz="1600" dirty="0"/>
          </a:p>
        </p:txBody>
      </p:sp>
      <p:sp>
        <p:nvSpPr>
          <p:cNvPr id="13" name="Carte"/>
          <p:cNvSpPr/>
          <p:nvPr/>
        </p:nvSpPr>
        <p:spPr>
          <a:xfrm>
            <a:off x="2560320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9748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Rencontres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Rencontre 3 (lundi 12 férié)</a:t>
            </a:r>
            <a:endParaRPr lang="en-US" sz="1200" dirty="0"/>
          </a:p>
        </p:txBody>
      </p:sp>
      <p:sp>
        <p:nvSpPr>
          <p:cNvPr id="16" name="Carte"/>
          <p:cNvSpPr/>
          <p:nvPr/>
        </p:nvSpPr>
        <p:spPr>
          <a:xfrm>
            <a:off x="2560320" y="306324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9748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350215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Lots 1 (fin), 2 (test), 3, 4 (démarrage)</a:t>
            </a:r>
            <a:endParaRPr lang="en-US" sz="1200" dirty="0"/>
          </a:p>
        </p:txBody>
      </p:sp>
      <p:sp>
        <p:nvSpPr>
          <p:cNvPr id="19" name="Semaine"/>
          <p:cNvSpPr/>
          <p:nvPr/>
        </p:nvSpPr>
        <p:spPr>
          <a:xfrm>
            <a:off x="4663440" y="109728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19-23 oct.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Pleine réalisation</a:t>
            </a:r>
            <a:endParaRPr lang="en-US" sz="1600" dirty="0"/>
          </a:p>
        </p:txBody>
      </p:sp>
      <p:sp>
        <p:nvSpPr>
          <p:cNvPr id="21" name="Carte"/>
          <p:cNvSpPr/>
          <p:nvPr/>
        </p:nvSpPr>
        <p:spPr>
          <a:xfrm>
            <a:off x="4663440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Rencontres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Rencontres 4, 5, 6</a:t>
            </a:r>
            <a:endParaRPr lang="en-US" sz="1200" dirty="0"/>
          </a:p>
        </p:txBody>
      </p:sp>
      <p:sp>
        <p:nvSpPr>
          <p:cNvPr id="24" name="Carte"/>
          <p:cNvSpPr/>
          <p:nvPr/>
        </p:nvSpPr>
        <p:spPr>
          <a:xfrm>
            <a:off x="4663440" y="306324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350215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Lots 2 (production), 3 à 9</a:t>
            </a:r>
            <a:endParaRPr lang="en-US" sz="1200" dirty="0"/>
          </a:p>
        </p:txBody>
      </p:sp>
      <p:sp>
        <p:nvSpPr>
          <p:cNvPr id="27" name="Semaine"/>
          <p:cNvSpPr/>
          <p:nvPr/>
        </p:nvSpPr>
        <p:spPr>
          <a:xfrm>
            <a:off x="6766560" y="109728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26-30 oct.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Démonstration et décision</a:t>
            </a:r>
            <a:endParaRPr lang="en-US" sz="1600" dirty="0"/>
          </a:p>
        </p:txBody>
      </p:sp>
      <p:sp>
        <p:nvSpPr>
          <p:cNvPr id="29" name="Carte"/>
          <p:cNvSpPr/>
          <p:nvPr/>
        </p:nvSpPr>
        <p:spPr>
          <a:xfrm>
            <a:off x="6766560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0372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Rencontres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90372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Rencontres 7, 8</a:t>
            </a:r>
            <a:endParaRPr lang="en-US" sz="1200" dirty="0"/>
          </a:p>
        </p:txBody>
      </p:sp>
      <p:sp>
        <p:nvSpPr>
          <p:cNvPr id="32" name="Carte"/>
          <p:cNvSpPr/>
          <p:nvPr/>
        </p:nvSpPr>
        <p:spPr>
          <a:xfrm>
            <a:off x="6766560" y="306324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350215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Lots 3 à 10 (finalisation)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équipe de trois, des rôles clairs</a:t>
            </a:r>
            <a:endParaRPr lang="en-US" sz="3000" dirty="0"/>
          </a:p>
        </p:txBody>
      </p:sp>
      <p:sp>
        <p:nvSpPr>
          <p:cNvPr id="3" name="Carte rôle"/>
          <p:cNvSpPr/>
          <p:nvPr/>
        </p:nvSpPr>
        <p:spPr>
          <a:xfrm>
            <a:off x="457200" y="109728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Architecte applicatif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30 h/sem.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Prototype du portail (Power Apps, Power Automate, Graph), gabarits SharePoint et Teams, étiquettes et rétention, registre des espaces</a:t>
            </a:r>
            <a:endParaRPr lang="en-US" sz="1300" dirty="0"/>
          </a:p>
        </p:txBody>
      </p:sp>
      <p:sp>
        <p:nvSpPr>
          <p:cNvPr id="7" name="Carte rôle"/>
          <p:cNvSpPr/>
          <p:nvPr/>
        </p:nvSpPr>
        <p:spPr>
          <a:xfrm>
            <a:off x="3246120" y="109728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34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Architecte technologique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30 h/sem.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Inventaire du tenant, blocage de la création libre, partage externe, rapport de surpartage, accès conditionnel, identités applicatives</a:t>
            </a:r>
            <a:endParaRPr lang="en-US" sz="1300" dirty="0"/>
          </a:p>
        </p:txBody>
      </p:sp>
      <p:sp>
        <p:nvSpPr>
          <p:cNvPr id="11" name="Carte rôle"/>
          <p:cNvSpPr/>
          <p:nvPr/>
        </p:nvSpPr>
        <p:spPr>
          <a:xfrm>
            <a:off x="6035040" y="109728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34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Chargé de projet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21 h/sem.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3774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Pilotage et comités, recette du prototype, spécifications du catalogue, coordination sécurité / gestion documentaire / juridique, documentation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Huit rencontres, 10,5 heures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731520"/>
                <a:gridCol w="32918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Durée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Rencontre et objectif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Participants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Jeu. 8 oct., 14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Lancement : portée, rôles, échéancier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Sponsor, AA, AT, CP, SEC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Ven. 9 oct., 9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 h 30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Validation des décisions D1 à D18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Sponsor, AA, AT, CP, SEC, DIR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Ven. 16 oct., 10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min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Point d'avancement no 1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Sponsor, AA, AT, CP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Mer. 21 oct., 9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Atelier conception : portail, catalogue, gabarits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AA, AT, CP, GD, SEC, DIR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Jeu. 22 oct., 13 h 30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Atelier sécurité et conformité : externe, Purview, identité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AA, AT, CP, SEC, GD, JUR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Ven. 23 oct., 10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min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Point d'avancement no 2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Sponsor, AA, AT, CP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Mar. 27 oct., 13 h 30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Revue des réalisations et démonstration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AA, AT, CP, TI, SEC, GD, DIR, Sponsor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Ven. 30 oct., 10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Comité exécutif ADM : décision d'exécution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Comité ADM, Sponsor, AA, AT, CP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AA = architecte applicatif · AT = architecte technologique · CP = chargé de projet · TI = équipe TI M365 · SEC = sécurité · GD = gestion documentaire · JUR = juridique · DIR = directions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Réalisations : lots 1 à 5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103120"/>
                <a:gridCol w="1463040"/>
                <a:gridCol w="3474720"/>
                <a:gridCol w="731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Lot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Réalisation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Période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Livrable mesurable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Heures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Inventaire du tenant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8 - 15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Rapport : 100 % des sites et Groupes recensés, orphelins et liens anonymes comptés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21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Blocage de la création libre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Test 13-16 ; prod. 19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Paramètres Entra et SharePoint ; 0 création libre pendant 2 semaines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Prototype du portail de demande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8 - 27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Formulaire, flux d'approbation et création d'un espace de test conforme ; recette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Gabarit Équipe (v1)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15 - 27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gabarit en code (création en moins de 15 min) ; gabarit Projet spécifié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32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Paramètres de partage externe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20 - 23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Anyone désactivé en test, processus d'approbation des invités documenté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Réalisations : lots 6 à 10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103120"/>
                <a:gridCol w="1463040"/>
                <a:gridCol w="3474720"/>
                <a:gridCol w="731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Lot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Réalisation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Période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Livrable mesurable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Heures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Étiquettes et rétention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20 - 28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 étiquettes créées (non publiées), plans de rétention et DLP validés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Rapport de surpartage (Copilot)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19 - 23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Rapport SAM et liste des 20 sites prioritaires à corriger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Accès conditionnel en mode rapport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20 - 28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politiques (MFA, appareils, invités) ; impact mesuré sur 5 jours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Registre des espaces et orphelins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13 - 26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Registre aligné sur l'inventaire, script de détection testé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Documentation et plan d'exécution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26 - 29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RACI, charte du comité, guide propriétaire, plan novembre à janvier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Réalisations : 198 h. Avec rencontres, préparation et pilotage : 253,5 h sur 259 h de capacité.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Calendrier des lots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108960" y="1005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8-9 oct.</a:t>
            </a:r>
            <a:endParaRPr lang="en-US" sz="1100" dirty="0"/>
          </a:p>
        </p:txBody>
      </p:sp>
      <p:sp>
        <p:nvSpPr>
          <p:cNvPr id="4" name="Repère semaine"/>
          <p:cNvSpPr/>
          <p:nvPr/>
        </p:nvSpPr>
        <p:spPr>
          <a:xfrm>
            <a:off x="3108960" y="1261872"/>
            <a:ext cx="0" cy="3291840"/>
          </a:xfrm>
          <a:prstGeom prst="line">
            <a:avLst/>
          </a:prstGeom>
          <a:noFill/>
          <a:ln w="9525">
            <a:solidFill>
              <a:srgbClr val="D5DD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21534" y="1005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13-16 oct.</a:t>
            </a:r>
            <a:endParaRPr lang="en-US" sz="1100" dirty="0"/>
          </a:p>
        </p:txBody>
      </p:sp>
      <p:sp>
        <p:nvSpPr>
          <p:cNvPr id="6" name="Repère semaine"/>
          <p:cNvSpPr/>
          <p:nvPr/>
        </p:nvSpPr>
        <p:spPr>
          <a:xfrm>
            <a:off x="4321534" y="1261872"/>
            <a:ext cx="0" cy="3291840"/>
          </a:xfrm>
          <a:prstGeom prst="line">
            <a:avLst/>
          </a:prstGeom>
          <a:noFill/>
          <a:ln w="9525">
            <a:solidFill>
              <a:srgbClr val="D5DD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76623" y="1005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19-23 oct.</a:t>
            </a:r>
            <a:endParaRPr lang="en-US" sz="1100" dirty="0"/>
          </a:p>
        </p:txBody>
      </p:sp>
      <p:sp>
        <p:nvSpPr>
          <p:cNvPr id="8" name="Repère semaine"/>
          <p:cNvSpPr/>
          <p:nvPr/>
        </p:nvSpPr>
        <p:spPr>
          <a:xfrm>
            <a:off x="5776623" y="1261872"/>
            <a:ext cx="0" cy="3291840"/>
          </a:xfrm>
          <a:prstGeom prst="line">
            <a:avLst/>
          </a:prstGeom>
          <a:noFill/>
          <a:ln w="9525">
            <a:solidFill>
              <a:srgbClr val="D5DD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74226" y="1005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26-30 oct.</a:t>
            </a:r>
            <a:endParaRPr lang="en-US" sz="1100" dirty="0"/>
          </a:p>
        </p:txBody>
      </p:sp>
      <p:sp>
        <p:nvSpPr>
          <p:cNvPr id="10" name="Repère semaine"/>
          <p:cNvSpPr/>
          <p:nvPr/>
        </p:nvSpPr>
        <p:spPr>
          <a:xfrm>
            <a:off x="7474226" y="1261872"/>
            <a:ext cx="0" cy="3291840"/>
          </a:xfrm>
          <a:prstGeom prst="line">
            <a:avLst/>
          </a:prstGeom>
          <a:noFill/>
          <a:ln w="9525">
            <a:solidFill>
              <a:srgbClr val="D5DD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325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1. Inventaire du tenant</a:t>
            </a:r>
            <a:endParaRPr lang="en-US" sz="1200" dirty="0"/>
          </a:p>
        </p:txBody>
      </p:sp>
      <p:sp>
        <p:nvSpPr>
          <p:cNvPr id="12" name="Barre lot"/>
          <p:cNvSpPr/>
          <p:nvPr/>
        </p:nvSpPr>
        <p:spPr>
          <a:xfrm>
            <a:off x="3108960" y="1353312"/>
            <a:ext cx="1940118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645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 Blocage création libre</a:t>
            </a:r>
            <a:endParaRPr lang="en-US" sz="1200" dirty="0"/>
          </a:p>
        </p:txBody>
      </p:sp>
      <p:sp>
        <p:nvSpPr>
          <p:cNvPr id="14" name="Barre lot"/>
          <p:cNvSpPr/>
          <p:nvPr/>
        </p:nvSpPr>
        <p:spPr>
          <a:xfrm>
            <a:off x="4321534" y="1673352"/>
            <a:ext cx="1697603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 Prototype du portail</a:t>
            </a:r>
            <a:endParaRPr lang="en-US" sz="1200" dirty="0"/>
          </a:p>
        </p:txBody>
      </p:sp>
      <p:sp>
        <p:nvSpPr>
          <p:cNvPr id="16" name="Barre lot"/>
          <p:cNvSpPr/>
          <p:nvPr/>
        </p:nvSpPr>
        <p:spPr>
          <a:xfrm>
            <a:off x="3108960" y="1993392"/>
            <a:ext cx="4850296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286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4. Gabarit Équipe (v1)</a:t>
            </a:r>
            <a:endParaRPr lang="en-US" sz="1200" dirty="0"/>
          </a:p>
        </p:txBody>
      </p:sp>
      <p:sp>
        <p:nvSpPr>
          <p:cNvPr id="18" name="Barre lot"/>
          <p:cNvSpPr/>
          <p:nvPr/>
        </p:nvSpPr>
        <p:spPr>
          <a:xfrm>
            <a:off x="4806563" y="2313432"/>
            <a:ext cx="3152692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06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 Partage externe</a:t>
            </a:r>
            <a:endParaRPr lang="en-US" sz="1200" dirty="0"/>
          </a:p>
        </p:txBody>
      </p:sp>
      <p:sp>
        <p:nvSpPr>
          <p:cNvPr id="20" name="Barre lot"/>
          <p:cNvSpPr/>
          <p:nvPr/>
        </p:nvSpPr>
        <p:spPr>
          <a:xfrm>
            <a:off x="6019137" y="2633472"/>
            <a:ext cx="970059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 Étiquettes et rétention</a:t>
            </a:r>
            <a:endParaRPr lang="en-US" sz="1200" dirty="0"/>
          </a:p>
        </p:txBody>
      </p:sp>
      <p:sp>
        <p:nvSpPr>
          <p:cNvPr id="22" name="Barre lot"/>
          <p:cNvSpPr/>
          <p:nvPr/>
        </p:nvSpPr>
        <p:spPr>
          <a:xfrm>
            <a:off x="6019137" y="2953512"/>
            <a:ext cx="2182633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 Rapport de surpartage</a:t>
            </a:r>
            <a:endParaRPr lang="en-US" sz="1200" dirty="0"/>
          </a:p>
        </p:txBody>
      </p:sp>
      <p:sp>
        <p:nvSpPr>
          <p:cNvPr id="24" name="Barre lot"/>
          <p:cNvSpPr/>
          <p:nvPr/>
        </p:nvSpPr>
        <p:spPr>
          <a:xfrm>
            <a:off x="5776623" y="3273552"/>
            <a:ext cx="1212574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 Accès conditionnel (rapport)</a:t>
            </a:r>
            <a:endParaRPr lang="en-US" sz="1200" dirty="0"/>
          </a:p>
        </p:txBody>
      </p:sp>
      <p:sp>
        <p:nvSpPr>
          <p:cNvPr id="26" name="Barre lot"/>
          <p:cNvSpPr/>
          <p:nvPr/>
        </p:nvSpPr>
        <p:spPr>
          <a:xfrm>
            <a:off x="6019137" y="3593592"/>
            <a:ext cx="2182633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886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 Registre et orphelins</a:t>
            </a:r>
            <a:endParaRPr lang="en-US" sz="1200" dirty="0"/>
          </a:p>
        </p:txBody>
      </p:sp>
      <p:sp>
        <p:nvSpPr>
          <p:cNvPr id="28" name="Barre lot"/>
          <p:cNvSpPr/>
          <p:nvPr/>
        </p:nvSpPr>
        <p:spPr>
          <a:xfrm>
            <a:off x="4321534" y="3913632"/>
            <a:ext cx="3395207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2062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 Documentation et plan</a:t>
            </a:r>
            <a:endParaRPr lang="en-US" sz="1200" dirty="0"/>
          </a:p>
        </p:txBody>
      </p:sp>
      <p:sp>
        <p:nvSpPr>
          <p:cNvPr id="30" name="Barre lot"/>
          <p:cNvSpPr/>
          <p:nvPr/>
        </p:nvSpPr>
        <p:spPr>
          <a:xfrm>
            <a:off x="7474226" y="4233672"/>
            <a:ext cx="970059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Rencontres : 8 (lancement), 9 (décisions), 21-22 (ateliers), 27 (démonstration), 30 (comité ADM)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Capacité de l'équipe et appui requis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1280160"/>
                <a:gridCol w="16459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Rôle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Capacité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Période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Charge planifiée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Marge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Architecte applicatif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 h/sem.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96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94,5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Architecte technologique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 h/sem.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96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95,5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Chargé de projet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 h/sem.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67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63,5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3,5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Total équipe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81 h/sem.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259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253,5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5,5 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te"/>
          <p:cNvSpPr/>
          <p:nvPr/>
        </p:nvSpPr>
        <p:spPr>
          <a:xfrm>
            <a:off x="457200" y="301752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31089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Appui hors équipe : environ 48 h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45643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Sécurité ~20 h, gestion documentaire ~17 h, TI (administration) ~8 h, juridique ~3 h ; directions et sponsor aux rencontres.</a:t>
            </a:r>
            <a:endParaRPr lang="en-US" sz="1300" dirty="0"/>
          </a:p>
        </p:txBody>
      </p:sp>
      <p:sp>
        <p:nvSpPr>
          <p:cNvPr id="7" name="Carte"/>
          <p:cNvSpPr/>
          <p:nvPr/>
        </p:nvSpPr>
        <p:spPr>
          <a:xfrm>
            <a:off x="4663440" y="3017520"/>
            <a:ext cx="40233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1089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Risque : marge de 5,5 h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345643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retard sur le prototype ou l'inventaire décale la démonstration du 27 octobre. Repli : reporter le lot 9 ou la recette.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est livré le 30 octobre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457200" y="109728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"/>
          <p:cNvSpPr/>
          <p:nvPr/>
        </p:nvSpPr>
        <p:spPr>
          <a:xfrm>
            <a:off x="594360" y="12344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Création libre bloquée en production</a:t>
            </a:r>
            <a:endParaRPr lang="en-US" sz="1300" dirty="0"/>
          </a:p>
        </p:txBody>
      </p:sp>
      <p:sp>
        <p:nvSpPr>
          <p:cNvPr id="7" name="Carte"/>
          <p:cNvSpPr/>
          <p:nvPr/>
        </p:nvSpPr>
        <p:spPr>
          <a:xfrm>
            <a:off x="4663440" y="109728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astille"/>
          <p:cNvSpPr/>
          <p:nvPr/>
        </p:nvSpPr>
        <p:spPr>
          <a:xfrm>
            <a:off x="4800600" y="1234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143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Inventaire du tenant et rapport de surpartage priorisé</a:t>
            </a:r>
            <a:endParaRPr lang="en-US" sz="1300" dirty="0"/>
          </a:p>
        </p:txBody>
      </p:sp>
      <p:sp>
        <p:nvSpPr>
          <p:cNvPr id="11" name="Carte"/>
          <p:cNvSpPr/>
          <p:nvPr/>
        </p:nvSpPr>
        <p:spPr>
          <a:xfrm>
            <a:off x="457200" y="1938528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astille"/>
          <p:cNvSpPr/>
          <p:nvPr/>
        </p:nvSpPr>
        <p:spPr>
          <a:xfrm>
            <a:off x="594360" y="20756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9842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Prototype de portail fonctionnel, de la demande à l'espace de test créé</a:t>
            </a:r>
            <a:endParaRPr lang="en-US" sz="1300" dirty="0"/>
          </a:p>
        </p:txBody>
      </p:sp>
      <p:sp>
        <p:nvSpPr>
          <p:cNvPr id="15" name="Carte"/>
          <p:cNvSpPr/>
          <p:nvPr/>
        </p:nvSpPr>
        <p:spPr>
          <a:xfrm>
            <a:off x="4663440" y="1938528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"/>
          <p:cNvSpPr/>
          <p:nvPr/>
        </p:nvSpPr>
        <p:spPr>
          <a:xfrm>
            <a:off x="4800600" y="20756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9842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Gabarit Équipe créé par code ; gabarit Projet spécifié</a:t>
            </a:r>
            <a:endParaRPr lang="en-US" sz="1300" dirty="0"/>
          </a:p>
        </p:txBody>
      </p:sp>
      <p:sp>
        <p:nvSpPr>
          <p:cNvPr id="19" name="Carte"/>
          <p:cNvSpPr/>
          <p:nvPr/>
        </p:nvSpPr>
        <p:spPr>
          <a:xfrm>
            <a:off x="457200" y="2779776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"/>
          <p:cNvSpPr/>
          <p:nvPr/>
        </p:nvSpPr>
        <p:spPr>
          <a:xfrm>
            <a:off x="594360" y="291693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28254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Partage externe validé en test, processus invités documenté</a:t>
            </a:r>
            <a:endParaRPr lang="en-US" sz="1300" dirty="0"/>
          </a:p>
        </p:txBody>
      </p:sp>
      <p:sp>
        <p:nvSpPr>
          <p:cNvPr id="23" name="Carte"/>
          <p:cNvSpPr/>
          <p:nvPr/>
        </p:nvSpPr>
        <p:spPr>
          <a:xfrm>
            <a:off x="4663440" y="2779776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stille"/>
          <p:cNvSpPr/>
          <p:nvPr/>
        </p:nvSpPr>
        <p:spPr>
          <a:xfrm>
            <a:off x="4800600" y="291693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94960" y="28254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Étiquettes créées, plans de rétention et DLP validés ; accès conditionnel en rapport</a:t>
            </a:r>
            <a:endParaRPr lang="en-US" sz="1300" dirty="0"/>
          </a:p>
        </p:txBody>
      </p:sp>
      <p:sp>
        <p:nvSpPr>
          <p:cNvPr id="27" name="Carte"/>
          <p:cNvSpPr/>
          <p:nvPr/>
        </p:nvSpPr>
        <p:spPr>
          <a:xfrm>
            <a:off x="457200" y="3621024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astille"/>
          <p:cNvSpPr/>
          <p:nvPr/>
        </p:nvSpPr>
        <p:spPr>
          <a:xfrm>
            <a:off x="594360" y="37581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88720" y="366674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Registre des espaces et détection automatique des orphelins</a:t>
            </a:r>
            <a:endParaRPr lang="en-US" sz="1300" dirty="0"/>
          </a:p>
        </p:txBody>
      </p:sp>
      <p:sp>
        <p:nvSpPr>
          <p:cNvPr id="31" name="Carte"/>
          <p:cNvSpPr/>
          <p:nvPr/>
        </p:nvSpPr>
        <p:spPr>
          <a:xfrm>
            <a:off x="4663440" y="3621024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astille"/>
          <p:cNvSpPr/>
          <p:nvPr/>
        </p:nvSpPr>
        <p:spPr>
          <a:xfrm>
            <a:off x="4800600" y="37581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394960" y="366674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RACI, charte du comité, plan d'exécution novembre à janvier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Suite : novembre à janvier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Chantier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Effort estimé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Mise en production du portail et du provisioning Graph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 à 15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 gabarits restants (Projet, Communication, Communauté, Extranet)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8 à 12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Activation Purview (étiquettes, DLP, rétention)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15 à 25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Assainissement du partage externe existant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 à 15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Nettoyage des accès avant Copilot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20 à 40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Ordres de grandeur à affiner. À 3 personnes, la suite dépasse 4 mois : prévoir du renfort TI ou un phasage plus long.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chemeClr val="accent1">
              <a:alpha val="6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demandons à ADM</a:t>
            </a:r>
            <a:endParaRPr lang="en-US" sz="3200" dirty="0"/>
          </a:p>
        </p:txBody>
      </p:sp>
      <p:sp>
        <p:nvSpPr>
          <p:cNvPr id="4" name="Pastille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Réserver les 8 rencontres aux dates proposées</a:t>
            </a:r>
            <a:endParaRPr lang="en-US" sz="1500" dirty="0"/>
          </a:p>
        </p:txBody>
      </p:sp>
      <p:sp>
        <p:nvSpPr>
          <p:cNvPr id="7" name="Pastille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2860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Confirmer la capacité de l'équipe (30 h, 30 h, 21 h par semaine) et l'appui sécurité, gestion documentaire et TI (~48 h)</a:t>
            </a:r>
            <a:endParaRPr lang="en-US" sz="1500" dirty="0"/>
          </a:p>
        </p:txBody>
      </p:sp>
      <p:sp>
        <p:nvSpPr>
          <p:cNvPr id="10" name="Pastille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017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Fournir un environnement de test et les droits d'administration</a:t>
            </a:r>
            <a:endParaRPr lang="en-US" sz="1500" dirty="0"/>
          </a:p>
        </p:txBody>
      </p:sp>
      <p:sp>
        <p:nvSpPr>
          <p:cNvPr id="13" name="Pastille"/>
          <p:cNvSpPr/>
          <p:nvPr/>
        </p:nvSpPr>
        <p:spPr>
          <a:xfrm>
            <a:off x="548640" y="3749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49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Réserver le comité exécutif du 30 octobre pour la décision d'exécution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ance M365">
  <a:themeElements>
    <a:clrScheme name="Gouvernance M365">
      <a:dk1>
        <a:srgbClr val="14212B"/>
      </a:dk1>
      <a:lt1>
        <a:srgbClr val="FFFFFF"/>
      </a:lt1>
      <a:dk2>
        <a:srgbClr val="0B3C49"/>
      </a:dk2>
      <a:lt2>
        <a:srgbClr val="EEF3F6"/>
      </a:lt2>
      <a:accent1>
        <a:srgbClr val="0F7C8C"/>
      </a:accent1>
      <a:accent2>
        <a:srgbClr val="F2A541"/>
      </a:accent2>
      <a:accent3>
        <a:srgbClr val="C8553D"/>
      </a:accent3>
      <a:accent4>
        <a:srgbClr val="5B8E7D"/>
      </a:accent4>
      <a:accent5>
        <a:srgbClr val="3D5A80"/>
      </a:accent5>
      <a:accent6>
        <a:srgbClr val="8D99AE"/>
      </a:accent6>
      <a:hlink>
        <a:srgbClr val="0F7C8C"/>
      </a:hlink>
      <a:folHlink>
        <a:srgbClr val="8D99AE"/>
      </a:folHlink>
    </a:clrScheme>
    <a:fontScheme name="Gouvernance M365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travail et rencontres - 8 au 30 octobre 2026</dc:title>
  <dc:subject>PptxGenJS Presentation</dc:subject>
  <dc:creator>Architecture Microsoft 365</dc:creator>
  <cp:lastModifiedBy>Architecture Microsoft 365</cp:lastModifiedBy>
  <cp:revision>1</cp:revision>
  <dcterms:created xsi:type="dcterms:W3CDTF">2026-10-08T21:05:47Z</dcterms:created>
  <dcterms:modified xsi:type="dcterms:W3CDTF">2026-10-08T21:05:47Z</dcterms:modified>
</cp:coreProperties>
</file>