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an" id="{5022a95c-8675-ef1f-1136-e0557c261f42}">
          <p14:sldIdLst>
            <p14:sldId id="256"/>
          </p14:sldIdLst>
        </p14:section>
        <p14:section name="Vue d'ensemble" id="{9f8e784e-7b38-a901-282b-bbf15260d5ef}">
          <p14:sldIdLst>
            <p14:sldId id="257"/>
            <p14:sldId id="258"/>
          </p14:sldIdLst>
        </p14:section>
        <p14:section name="Rencontres" id="{5a384ec2-4e0f-5036-7ab3-b4c1c3b17083}">
          <p14:sldIdLst>
            <p14:sldId id="259"/>
          </p14:sldIdLst>
        </p14:section>
        <p14:section name="Réalisations" id="{b4c1c9ec-0c17-3311-4b2e-1a3d11a14687}">
          <p14:sldIdLst>
            <p14:sldId id="260"/>
            <p14:sldId id="261"/>
            <p14:sldId id="262"/>
          </p14:sldIdLst>
        </p14:section>
        <p14:section name="Ressources et suite" id="{80e503fd-3dc3-f7dc-b591-bfefbf9feaf9}">
          <p14:sldIdLst>
            <p14:sldId id="263"/>
            <p14:sldId id="264"/>
            <p14:sldId id="265"/>
          </p14:sldIdLst>
        </p14:section>
        <p14:section name="Conclusion" id="{c38bca3e-bf6d-bfe1-7ecb-02334492cd9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Plan de travail M365 : 8 au 30 octobre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"/>
          <p:cNvSpPr/>
          <p:nvPr/>
        </p:nvSpPr>
        <p:spPr>
          <a:xfrm>
            <a:off x="6035040" y="-731520"/>
            <a:ext cx="4206240" cy="4206240"/>
          </a:xfrm>
          <a:prstGeom prst="ellipse">
            <a:avLst/>
          </a:prstGeom>
          <a:solidFill>
            <a:schemeClr val="accent1">
              <a:alpha val="6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Motif"/>
          <p:cNvSpPr/>
          <p:nvPr/>
        </p:nvSpPr>
        <p:spPr>
          <a:xfrm>
            <a:off x="7223760" y="2651760"/>
            <a:ext cx="3108960" cy="3108960"/>
          </a:xfrm>
          <a:prstGeom prst="ellipse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travail et rencontres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au 30 octobre 2026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Gouvernance Microsoft 365 : moins de rencontres, plus de réalisations concrètes et mesurables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Proposition à consolider avant transmission au comité exécutif ADM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principe : décider vite, réaliser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45720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rencontres, environ 12 h (au lieu de 18)</a:t>
            </a:r>
            <a:endParaRPr lang="en-US" sz="1300" dirty="0"/>
          </a:p>
        </p:txBody>
      </p:sp>
      <p:sp>
        <p:nvSpPr>
          <p:cNvPr id="6" name="Carte"/>
          <p:cNvSpPr/>
          <p:nvPr/>
        </p:nvSpPr>
        <p:spPr>
          <a:xfrm>
            <a:off x="256032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lots de réalisations livrables</a:t>
            </a:r>
            <a:endParaRPr lang="en-US" sz="1300" dirty="0"/>
          </a:p>
        </p:txBody>
      </p:sp>
      <p:sp>
        <p:nvSpPr>
          <p:cNvPr id="9" name="Carte"/>
          <p:cNvSpPr/>
          <p:nvPr/>
        </p:nvSpPr>
        <p:spPr>
          <a:xfrm>
            <a:off x="466344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jours-personne sur 16 jours ouvrables</a:t>
            </a:r>
            <a:endParaRPr lang="en-US" sz="1300" dirty="0"/>
          </a:p>
        </p:txBody>
      </p:sp>
      <p:sp>
        <p:nvSpPr>
          <p:cNvPr id="12" name="Carte"/>
          <p:cNvSpPr/>
          <p:nvPr/>
        </p:nvSpPr>
        <p:spPr>
          <a:xfrm>
            <a:off x="676656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2344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oct.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03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décision d'exécution par ADM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Les rencontres servent à décider, valider et débloquer, pas à produire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Préparation écrite : documents d'options de 2 pages envoyés 48 h avant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Décisions de détail par courriel sous 24 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Configurations testées d'abord en environnement de test, activées en production après validation du sponsor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semaines, du cadrage à la décision</a:t>
            </a:r>
            <a:endParaRPr lang="en-US" sz="3000" dirty="0"/>
          </a:p>
        </p:txBody>
      </p:sp>
      <p:sp>
        <p:nvSpPr>
          <p:cNvPr id="3" name="Semaine"/>
          <p:cNvSpPr/>
          <p:nvPr/>
        </p:nvSpPr>
        <p:spPr>
          <a:xfrm>
            <a:off x="45720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8-9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Cadrage et décisions</a:t>
            </a:r>
            <a:endParaRPr lang="en-US" sz="1600" dirty="0"/>
          </a:p>
        </p:txBody>
      </p:sp>
      <p:sp>
        <p:nvSpPr>
          <p:cNvPr id="5" name="Carte"/>
          <p:cNvSpPr/>
          <p:nvPr/>
        </p:nvSpPr>
        <p:spPr>
          <a:xfrm>
            <a:off x="45720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Rencontres 1, 2</a:t>
            </a:r>
            <a:endParaRPr lang="en-US" sz="1200" dirty="0"/>
          </a:p>
        </p:txBody>
      </p:sp>
      <p:sp>
        <p:nvSpPr>
          <p:cNvPr id="8" name="Carte"/>
          <p:cNvSpPr/>
          <p:nvPr/>
        </p:nvSpPr>
        <p:spPr>
          <a:xfrm>
            <a:off x="45720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 1 : inventaire (démarrage)</a:t>
            </a:r>
            <a:endParaRPr lang="en-US" sz="1200" dirty="0"/>
          </a:p>
        </p:txBody>
      </p:sp>
      <p:sp>
        <p:nvSpPr>
          <p:cNvPr id="11" name="Semaine"/>
          <p:cNvSpPr/>
          <p:nvPr/>
        </p:nvSpPr>
        <p:spPr>
          <a:xfrm>
            <a:off x="256032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13-16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Mise en route</a:t>
            </a:r>
            <a:endParaRPr lang="en-US" sz="1600" dirty="0"/>
          </a:p>
        </p:txBody>
      </p:sp>
      <p:sp>
        <p:nvSpPr>
          <p:cNvPr id="13" name="Carte"/>
          <p:cNvSpPr/>
          <p:nvPr/>
        </p:nvSpPr>
        <p:spPr>
          <a:xfrm>
            <a:off x="256032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 3 (lundi 12 férié)</a:t>
            </a:r>
            <a:endParaRPr lang="en-US" sz="1200" dirty="0"/>
          </a:p>
        </p:txBody>
      </p:sp>
      <p:sp>
        <p:nvSpPr>
          <p:cNvPr id="16" name="Carte"/>
          <p:cNvSpPr/>
          <p:nvPr/>
        </p:nvSpPr>
        <p:spPr>
          <a:xfrm>
            <a:off x="256032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9748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Lots 1 (fin), 2 (test), 3, 4 (démarrage)</a:t>
            </a:r>
            <a:endParaRPr lang="en-US" sz="1200" dirty="0"/>
          </a:p>
        </p:txBody>
      </p:sp>
      <p:sp>
        <p:nvSpPr>
          <p:cNvPr id="19" name="Semaine"/>
          <p:cNvSpPr/>
          <p:nvPr/>
        </p:nvSpPr>
        <p:spPr>
          <a:xfrm>
            <a:off x="466344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19-23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Pleine réalisation</a:t>
            </a:r>
            <a:endParaRPr lang="en-US" sz="1600" dirty="0"/>
          </a:p>
        </p:txBody>
      </p:sp>
      <p:sp>
        <p:nvSpPr>
          <p:cNvPr id="21" name="Carte"/>
          <p:cNvSpPr/>
          <p:nvPr/>
        </p:nvSpPr>
        <p:spPr>
          <a:xfrm>
            <a:off x="466344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Rencontres 4, 5, 6</a:t>
            </a:r>
            <a:endParaRPr lang="en-US" sz="1200" dirty="0"/>
          </a:p>
        </p:txBody>
      </p:sp>
      <p:sp>
        <p:nvSpPr>
          <p:cNvPr id="24" name="Carte"/>
          <p:cNvSpPr/>
          <p:nvPr/>
        </p:nvSpPr>
        <p:spPr>
          <a:xfrm>
            <a:off x="466344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Lots 2 (production), 3 à 9</a:t>
            </a:r>
            <a:endParaRPr lang="en-US" sz="1200" dirty="0"/>
          </a:p>
        </p:txBody>
      </p:sp>
      <p:sp>
        <p:nvSpPr>
          <p:cNvPr id="27" name="Semaine"/>
          <p:cNvSpPr/>
          <p:nvPr/>
        </p:nvSpPr>
        <p:spPr>
          <a:xfrm>
            <a:off x="6766560" y="109728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26-30 oct.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Démonstration et décision</a:t>
            </a:r>
            <a:endParaRPr lang="en-US" sz="1600" dirty="0"/>
          </a:p>
        </p:txBody>
      </p:sp>
      <p:sp>
        <p:nvSpPr>
          <p:cNvPr id="29" name="Carte"/>
          <p:cNvSpPr/>
          <p:nvPr/>
        </p:nvSpPr>
        <p:spPr>
          <a:xfrm>
            <a:off x="6766560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3720" y="2011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Rencontres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903720" y="23591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Rencontres 7, 8</a:t>
            </a:r>
            <a:endParaRPr lang="en-US" sz="1200" dirty="0"/>
          </a:p>
        </p:txBody>
      </p:sp>
      <p:sp>
        <p:nvSpPr>
          <p:cNvPr id="32" name="Carte"/>
          <p:cNvSpPr/>
          <p:nvPr/>
        </p:nvSpPr>
        <p:spPr>
          <a:xfrm>
            <a:off x="6766560" y="306324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Réalisations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350215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Lots 3 à 10 (finalisation)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rencontres, environ 12 heures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731520"/>
                <a:gridCol w="32918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Durée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Rencontre et objectif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Participants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Jeu. 8 oct., 14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Lancement : portée, rôles, échéancier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AR, CP, TI, SEC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9 oct., 9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 h 30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Validation des décisions D1 à D18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AR, CP, SEC, TI, DIR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16 oct., 10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min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Point d'avancement no 1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CP, AR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Mer. 21 oct., 9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Atelier conception : portail, catalogue, gabarits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AR, TI, GD, SEC, DIR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Jeu. 22 oct., 13 h 30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Atelier sécurité et conformité : externe, Purview, identité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AR, SEC, TI, GD, JUR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23 oct., 10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min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Point d'avancement no 2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Sponsor, CP, AR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Mar. 27 oct., 13 h 30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Revue des réalisations et démonstration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AR, CP, TI, SEC, GD, DIR, Sponsor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Ven. 30 oct., 10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 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Comité exécutif ADM : décision d'exécution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Comité ADM, Sponsor, AR, CP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AR = architecte M365 · CP = chef de projet · TI = équipe TI M365 · SEC = sécurité · GD = gestion documentaire · JUR = juridique · DIR = directions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Réalisations : lots 1 à 5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103120"/>
                <a:gridCol w="1463040"/>
                <a:gridCol w="3657600"/>
                <a:gridCol w="548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Lot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Réalisation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Période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Livrable mesurable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j-p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Inventaire du tenant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8 - 15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Rapport : 100 % des sites et Groupes recensés, orphelins et liens anonymes comptés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Blocage de la création libre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 13-16 ; prod. 19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Paramètres Entra et SharePoint ; 0 création libre pendant 2 semaines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Prototype du portail de demande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13 - 26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Une demande de bout en bout crée un espace conforme (2 propriétaires)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Gabarits Équipe et Projet (v1)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15 - 27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gabarits en code, création en moins de 15 min sans configuration manuelle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Paramètres de partage externe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20 - 23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Anyone désactivé en test, processus d'approbation des invités documenté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Réalisations : lots 6 à 10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103120"/>
                <a:gridCol w="1463040"/>
                <a:gridCol w="3657600"/>
                <a:gridCol w="548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Lot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Réalisation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Période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Livrable mesurable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j-p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Étiquettes de sensibilité et DLP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20 - 28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étiquettes non publiées, DLP en simulation, plan de rétention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Rapport de surpartage (Copilot)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19 - 23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Rapport SAM et liste des 20 sites prioritaires à corriger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Accès conditionnel en mode rapport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20 - 28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Politiques MFA, appareils et invités ; impact mesuré sur 5 jours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Registre des espaces et orphelins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19 - 26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Registre aligné sur l'inventaire, script de détection testé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Documentation et plan d'exécution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26 - 29 oct.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RACI, charte du comité, guide propriétaire, plan novembre à janvier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Total réalisations : 38 jours-personne, plus environ 4 jours-personne de pilotage : environ 42 jours-personne.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Calendrier des lots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108960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8-9 oct.</a:t>
            </a:r>
            <a:endParaRPr lang="en-US" sz="1100" dirty="0"/>
          </a:p>
        </p:txBody>
      </p:sp>
      <p:sp>
        <p:nvSpPr>
          <p:cNvPr id="4" name="Repère semaine"/>
          <p:cNvSpPr/>
          <p:nvPr/>
        </p:nvSpPr>
        <p:spPr>
          <a:xfrm>
            <a:off x="3108960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21534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13-16 oct.</a:t>
            </a:r>
            <a:endParaRPr lang="en-US" sz="1100" dirty="0"/>
          </a:p>
        </p:txBody>
      </p:sp>
      <p:sp>
        <p:nvSpPr>
          <p:cNvPr id="6" name="Repère semaine"/>
          <p:cNvSpPr/>
          <p:nvPr/>
        </p:nvSpPr>
        <p:spPr>
          <a:xfrm>
            <a:off x="4321534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76623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19-23 oct.</a:t>
            </a:r>
            <a:endParaRPr lang="en-US" sz="1100" dirty="0"/>
          </a:p>
        </p:txBody>
      </p:sp>
      <p:sp>
        <p:nvSpPr>
          <p:cNvPr id="8" name="Repère semaine"/>
          <p:cNvSpPr/>
          <p:nvPr/>
        </p:nvSpPr>
        <p:spPr>
          <a:xfrm>
            <a:off x="5776623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74226" y="1005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26-30 oct.</a:t>
            </a:r>
            <a:endParaRPr lang="en-US" sz="1100" dirty="0"/>
          </a:p>
        </p:txBody>
      </p:sp>
      <p:sp>
        <p:nvSpPr>
          <p:cNvPr id="10" name="Repère semaine"/>
          <p:cNvSpPr/>
          <p:nvPr/>
        </p:nvSpPr>
        <p:spPr>
          <a:xfrm>
            <a:off x="7474226" y="1261872"/>
            <a:ext cx="0" cy="3291840"/>
          </a:xfrm>
          <a:prstGeom prst="line">
            <a:avLst/>
          </a:prstGeom>
          <a:noFill/>
          <a:ln w="9525">
            <a:solidFill>
              <a:srgbClr val="D5DD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325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 Inventaire du tenant</a:t>
            </a:r>
            <a:endParaRPr lang="en-US" sz="1200" dirty="0"/>
          </a:p>
        </p:txBody>
      </p:sp>
      <p:sp>
        <p:nvSpPr>
          <p:cNvPr id="12" name="Barre lot"/>
          <p:cNvSpPr/>
          <p:nvPr/>
        </p:nvSpPr>
        <p:spPr>
          <a:xfrm>
            <a:off x="3108960" y="1353312"/>
            <a:ext cx="1940118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645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 Blocage création libre</a:t>
            </a:r>
            <a:endParaRPr lang="en-US" sz="1200" dirty="0"/>
          </a:p>
        </p:txBody>
      </p:sp>
      <p:sp>
        <p:nvSpPr>
          <p:cNvPr id="14" name="Barre lot"/>
          <p:cNvSpPr/>
          <p:nvPr/>
        </p:nvSpPr>
        <p:spPr>
          <a:xfrm>
            <a:off x="4321534" y="1673352"/>
            <a:ext cx="1697603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 Prototype du portail</a:t>
            </a:r>
            <a:endParaRPr lang="en-US" sz="1200" dirty="0"/>
          </a:p>
        </p:txBody>
      </p:sp>
      <p:sp>
        <p:nvSpPr>
          <p:cNvPr id="16" name="Barre lot"/>
          <p:cNvSpPr/>
          <p:nvPr/>
        </p:nvSpPr>
        <p:spPr>
          <a:xfrm>
            <a:off x="4321534" y="1993392"/>
            <a:ext cx="3395207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286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4. Gabarits Équipe et Projet</a:t>
            </a:r>
            <a:endParaRPr lang="en-US" sz="1200" dirty="0"/>
          </a:p>
        </p:txBody>
      </p:sp>
      <p:sp>
        <p:nvSpPr>
          <p:cNvPr id="18" name="Barre lot"/>
          <p:cNvSpPr/>
          <p:nvPr/>
        </p:nvSpPr>
        <p:spPr>
          <a:xfrm>
            <a:off x="4806563" y="2313432"/>
            <a:ext cx="3152692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 Partage externe</a:t>
            </a:r>
            <a:endParaRPr lang="en-US" sz="1200" dirty="0"/>
          </a:p>
        </p:txBody>
      </p:sp>
      <p:sp>
        <p:nvSpPr>
          <p:cNvPr id="20" name="Barre lot"/>
          <p:cNvSpPr/>
          <p:nvPr/>
        </p:nvSpPr>
        <p:spPr>
          <a:xfrm>
            <a:off x="6019137" y="2633472"/>
            <a:ext cx="970059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 Étiquettes et DLP</a:t>
            </a:r>
            <a:endParaRPr lang="en-US" sz="1200" dirty="0"/>
          </a:p>
        </p:txBody>
      </p:sp>
      <p:sp>
        <p:nvSpPr>
          <p:cNvPr id="22" name="Barre lot"/>
          <p:cNvSpPr/>
          <p:nvPr/>
        </p:nvSpPr>
        <p:spPr>
          <a:xfrm>
            <a:off x="6019137" y="2953512"/>
            <a:ext cx="2182633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 Rapport de surpartage</a:t>
            </a:r>
            <a:endParaRPr lang="en-US" sz="1200" dirty="0"/>
          </a:p>
        </p:txBody>
      </p:sp>
      <p:sp>
        <p:nvSpPr>
          <p:cNvPr id="24" name="Barre lot"/>
          <p:cNvSpPr/>
          <p:nvPr/>
        </p:nvSpPr>
        <p:spPr>
          <a:xfrm>
            <a:off x="5776623" y="3273552"/>
            <a:ext cx="1212574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 Accès conditionnel (rapport)</a:t>
            </a:r>
            <a:endParaRPr lang="en-US" sz="1200" dirty="0"/>
          </a:p>
        </p:txBody>
      </p:sp>
      <p:sp>
        <p:nvSpPr>
          <p:cNvPr id="26" name="Barre lot"/>
          <p:cNvSpPr/>
          <p:nvPr/>
        </p:nvSpPr>
        <p:spPr>
          <a:xfrm>
            <a:off x="6019137" y="3593592"/>
            <a:ext cx="2182633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886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 Registre et orphelins</a:t>
            </a:r>
            <a:endParaRPr lang="en-US" sz="1200" dirty="0"/>
          </a:p>
        </p:txBody>
      </p:sp>
      <p:sp>
        <p:nvSpPr>
          <p:cNvPr id="28" name="Barre lot"/>
          <p:cNvSpPr/>
          <p:nvPr/>
        </p:nvSpPr>
        <p:spPr>
          <a:xfrm>
            <a:off x="5776623" y="3913632"/>
            <a:ext cx="1940118" cy="219456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2062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 Documentation et plan</a:t>
            </a:r>
            <a:endParaRPr lang="en-US" sz="1200" dirty="0"/>
          </a:p>
        </p:txBody>
      </p:sp>
      <p:sp>
        <p:nvSpPr>
          <p:cNvPr id="30" name="Barre lot"/>
          <p:cNvSpPr/>
          <p:nvPr/>
        </p:nvSpPr>
        <p:spPr>
          <a:xfrm>
            <a:off x="7474226" y="4233672"/>
            <a:ext cx="970059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Rencontres : 8 (lancement), 9 (décisions), 21-22 (ateliers), 27 (démonstration), 30 (comité ADM)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Ressources à réserver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37160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Ressource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Rencontres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Réalisations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Réservation conseillée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Architecte M365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~12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~10 j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Chef de projet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~9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~5 j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TI M365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~8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~25 j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à 3 personnes à temps plein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Sécurité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~7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~6 j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30 %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Gestion documentaire / conformité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~6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~6 j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30 %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Juridique / vie privée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~1 j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Ponctuel (rencontre 5)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Directions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 h chacune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~0,5 j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Ponctuel (rencontres 2, 4, 7)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Sponsor / comité exécutif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~6 h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Rencontres 1, 2, 3, 6, 7, 8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est livré le 30 octobre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457200" y="109728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"/>
          <p:cNvSpPr/>
          <p:nvPr/>
        </p:nvSpPr>
        <p:spPr>
          <a:xfrm>
            <a:off x="594360" y="12344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Création libre bloquée en production</a:t>
            </a:r>
            <a:endParaRPr lang="en-US" sz="1300" dirty="0"/>
          </a:p>
        </p:txBody>
      </p:sp>
      <p:sp>
        <p:nvSpPr>
          <p:cNvPr id="7" name="Carte"/>
          <p:cNvSpPr/>
          <p:nvPr/>
        </p:nvSpPr>
        <p:spPr>
          <a:xfrm>
            <a:off x="4663440" y="109728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stille"/>
          <p:cNvSpPr/>
          <p:nvPr/>
        </p:nvSpPr>
        <p:spPr>
          <a:xfrm>
            <a:off x="4800600" y="1234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143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Inventaire du tenant et rapport de surpartage priorisé</a:t>
            </a:r>
            <a:endParaRPr lang="en-US" sz="1300" dirty="0"/>
          </a:p>
        </p:txBody>
      </p:sp>
      <p:sp>
        <p:nvSpPr>
          <p:cNvPr id="11" name="Carte"/>
          <p:cNvSpPr/>
          <p:nvPr/>
        </p:nvSpPr>
        <p:spPr>
          <a:xfrm>
            <a:off x="457200" y="1938528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astille"/>
          <p:cNvSpPr/>
          <p:nvPr/>
        </p:nvSpPr>
        <p:spPr>
          <a:xfrm>
            <a:off x="594360" y="20756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9842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Prototype de portail fonctionnel, de la demande à l'espace créé</a:t>
            </a:r>
            <a:endParaRPr lang="en-US" sz="1300" dirty="0"/>
          </a:p>
        </p:txBody>
      </p:sp>
      <p:sp>
        <p:nvSpPr>
          <p:cNvPr id="15" name="Carte"/>
          <p:cNvSpPr/>
          <p:nvPr/>
        </p:nvSpPr>
        <p:spPr>
          <a:xfrm>
            <a:off x="4663440" y="1938528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"/>
          <p:cNvSpPr/>
          <p:nvPr/>
        </p:nvSpPr>
        <p:spPr>
          <a:xfrm>
            <a:off x="4800600" y="20756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9842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Deux gabarits (Équipe, Projet) créés par code</a:t>
            </a:r>
            <a:endParaRPr lang="en-US" sz="1300" dirty="0"/>
          </a:p>
        </p:txBody>
      </p:sp>
      <p:sp>
        <p:nvSpPr>
          <p:cNvPr id="19" name="Carte"/>
          <p:cNvSpPr/>
          <p:nvPr/>
        </p:nvSpPr>
        <p:spPr>
          <a:xfrm>
            <a:off x="457200" y="2779776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"/>
          <p:cNvSpPr/>
          <p:nvPr/>
        </p:nvSpPr>
        <p:spPr>
          <a:xfrm>
            <a:off x="594360" y="291693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28254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Partage externe validé en test, processus invités documenté</a:t>
            </a:r>
            <a:endParaRPr lang="en-US" sz="1300" dirty="0"/>
          </a:p>
        </p:txBody>
      </p:sp>
      <p:sp>
        <p:nvSpPr>
          <p:cNvPr id="23" name="Carte"/>
          <p:cNvSpPr/>
          <p:nvPr/>
        </p:nvSpPr>
        <p:spPr>
          <a:xfrm>
            <a:off x="4663440" y="2779776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stille"/>
          <p:cNvSpPr/>
          <p:nvPr/>
        </p:nvSpPr>
        <p:spPr>
          <a:xfrm>
            <a:off x="4800600" y="291693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28254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Étiquettes, DLP (simulation) et accès conditionnel (rapport) prêts à activer</a:t>
            </a:r>
            <a:endParaRPr lang="en-US" sz="1300" dirty="0"/>
          </a:p>
        </p:txBody>
      </p:sp>
      <p:sp>
        <p:nvSpPr>
          <p:cNvPr id="27" name="Carte"/>
          <p:cNvSpPr/>
          <p:nvPr/>
        </p:nvSpPr>
        <p:spPr>
          <a:xfrm>
            <a:off x="457200" y="3621024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"/>
          <p:cNvSpPr/>
          <p:nvPr/>
        </p:nvSpPr>
        <p:spPr>
          <a:xfrm>
            <a:off x="594360" y="37581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366674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Registre des espaces et détection automatique des orphelins</a:t>
            </a:r>
            <a:endParaRPr lang="en-US" sz="1300" dirty="0"/>
          </a:p>
        </p:txBody>
      </p:sp>
      <p:sp>
        <p:nvSpPr>
          <p:cNvPr id="31" name="Carte"/>
          <p:cNvSpPr/>
          <p:nvPr/>
        </p:nvSpPr>
        <p:spPr>
          <a:xfrm>
            <a:off x="4663440" y="3621024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astille"/>
          <p:cNvSpPr/>
          <p:nvPr/>
        </p:nvSpPr>
        <p:spPr>
          <a:xfrm>
            <a:off x="4800600" y="37581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394960" y="366674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RACI, charte du comité, plan d'exécution novembre à janvier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Suite : novembre à janvier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Chantier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Effort estimé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Mise en production du portail et du provisioning Graph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 à 15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 gabarits restants (Communication, Communauté, Extranet)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 à 9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Activation Purview (étiquettes, DLP, rétention)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15 à 25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Assainissement du partage externe existant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 à 15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Nettoyage des accès avant Copilot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20 à 40 j-p</a:t>
                      </a:r>
                      <a:endParaRPr lang="en-US" sz="13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Ordres de grandeur à affiner avec le rapport de surpartage et l'inventaire.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chemeClr val="accent1">
              <a:alpha val="6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demandons à ADM</a:t>
            </a:r>
            <a:endParaRPr lang="en-US" sz="3200" dirty="0"/>
          </a:p>
        </p:txBody>
      </p:sp>
      <p:sp>
        <p:nvSpPr>
          <p:cNvPr id="4" name="Pastille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Réserver les 8 rencontres aux dates proposées</a:t>
            </a:r>
            <a:endParaRPr lang="en-US" sz="1600" dirty="0"/>
          </a:p>
        </p:txBody>
      </p:sp>
      <p:sp>
        <p:nvSpPr>
          <p:cNvPr id="7" name="Pastille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86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Mobiliser 2 à 3 personnes TI à temps plein pour les lots 1 à 9</a:t>
            </a:r>
            <a:endParaRPr lang="en-US" sz="1600" dirty="0"/>
          </a:p>
        </p:txBody>
      </p:sp>
      <p:sp>
        <p:nvSpPr>
          <p:cNvPr id="10" name="Pastille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017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Fournir un environnement de test pour les lots 2 à 5</a:t>
            </a:r>
            <a:endParaRPr lang="en-US" sz="1600" dirty="0"/>
          </a:p>
        </p:txBody>
      </p:sp>
      <p:sp>
        <p:nvSpPr>
          <p:cNvPr id="13" name="Pastille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49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Réserver le comité exécutif du 30 octobre pour la décision d'exécution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ance M365">
  <a:themeElements>
    <a:clrScheme name="Gouvernance M365">
      <a:dk1>
        <a:srgbClr val="14212B"/>
      </a:dk1>
      <a:lt1>
        <a:srgbClr val="FFFFFF"/>
      </a:lt1>
      <a:dk2>
        <a:srgbClr val="0B3C49"/>
      </a:dk2>
      <a:lt2>
        <a:srgbClr val="EEF3F6"/>
      </a:lt2>
      <a:accent1>
        <a:srgbClr val="0F7C8C"/>
      </a:accent1>
      <a:accent2>
        <a:srgbClr val="F2A541"/>
      </a:accent2>
      <a:accent3>
        <a:srgbClr val="C8553D"/>
      </a:accent3>
      <a:accent4>
        <a:srgbClr val="5B8E7D"/>
      </a:accent4>
      <a:accent5>
        <a:srgbClr val="3D5A80"/>
      </a:accent5>
      <a:accent6>
        <a:srgbClr val="8D99AE"/>
      </a:accent6>
      <a:hlink>
        <a:srgbClr val="0F7C8C"/>
      </a:hlink>
      <a:folHlink>
        <a:srgbClr val="8D99AE"/>
      </a:folHlink>
    </a:clrScheme>
    <a:fontScheme name="Gouvernance M365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travail et rencontres - 8 au 30 octobre 2026</dc:title>
  <dc:subject>PptxGenJS Presentation</dc:subject>
  <dc:creator>Architecture Microsoft 365</dc:creator>
  <cp:lastModifiedBy>Architecture Microsoft 365</cp:lastModifiedBy>
  <cp:revision>1</cp:revision>
  <dcterms:created xsi:type="dcterms:W3CDTF">2026-10-08T20:33:00Z</dcterms:created>
  <dcterms:modified xsi:type="dcterms:W3CDTF">2026-10-08T20:33:00Z</dcterms:modified>
</cp:coreProperties>
</file>