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14bd12e1-20b8-7d56-9661-fde037b81ae7}">
          <p14:sldIdLst>
            <p14:sldId id="256"/>
            <p14:sldId id="257"/>
          </p14:sldIdLst>
        </p14:section>
        <p14:section name="Vision" id="{6a20cf79-a3c2-8b6c-7223-057121e11940}">
          <p14:sldIdLst>
            <p14:sldId id="258"/>
            <p14:sldId id="259"/>
          </p14:sldIdLst>
        </p14:section>
        <p14:section name="Contrôle de la création" id="{c07c6c0a-bdf2-6cbb-0359-97aeea8c25ae}">
          <p14:sldIdLst>
            <p14:sldId id="260"/>
            <p14:sldId id="261"/>
          </p14:sldIdLst>
        </p14:section>
        <p14:section name="Catalogue et gabarits" id="{bdf3cf65-28f0-b5d0-8c08-19cf3f8ce3ab}">
          <p14:sldIdLst>
            <p14:sldId id="262"/>
            <p14:sldId id="263"/>
          </p14:sldIdLst>
        </p14:section>
        <p14:section name="Gouvernance par service" id="{ce92f656-713f-ef86-269a-8ccd1fd93ef8}">
          <p14:sldIdLst>
            <p14:sldId id="264"/>
            <p14:sldId id="265"/>
            <p14:sldId id="266"/>
          </p14:sldIdLst>
        </p14:section>
        <p14:section name="Partage externe et sécurité" id="{7c45c2a9-d1c2-d9b5-a820-d9c995c92b03}">
          <p14:sldIdLst>
            <p14:sldId id="267"/>
            <p14:sldId id="268"/>
          </p14:sldIdLst>
        </p14:section>
        <p14:section name="Copilot" id="{0e0e097e-a656-65ef-d47a-aad8e3e8dc93}">
          <p14:sldIdLst>
            <p14:sldId id="269"/>
          </p14:sldIdLst>
        </p14:section>
        <p14:section name="Pilotage" id="{f380c3ab-8281-56ce-5948-0263d2717836}">
          <p14:sldIdLst>
            <p14:sldId id="270"/>
            <p14:sldId id="271"/>
            <p14:sldId id="272"/>
            <p14:sldId id="273"/>
            <p14:sldId id="274"/>
          </p14:sldIdLst>
        </p14:section>
        <p14:section name="Conclusion" id="{b0988cc5-0208-c277-3dd6-16ef03d9f4a5}">
          <p14:sldIdLst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Présentation de la stratégie de gouvernance Microsoft 365. Détail complet dans Strategie-Gouvernance-M365.md.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Copilot hérite des permissions de l'utilisateur : il n'ajoute aucun droit mais rend visible tout ce qui était accessible.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Stratégie de gouvernance Microsoft 365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"/>
          <p:cNvSpPr/>
          <p:nvPr/>
        </p:nvSpPr>
        <p:spPr>
          <a:xfrm>
            <a:off x="6035040" y="-731520"/>
            <a:ext cx="4206240" cy="4206240"/>
          </a:xfrm>
          <a:prstGeom prst="ellipse">
            <a:avLst/>
          </a:prstGeom>
          <a:solidFill>
            <a:schemeClr val="accent1">
              <a:alpha val="65000"/>
            </a:schemeClr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3" name="Motif"/>
          <p:cNvSpPr/>
          <p:nvPr/>
        </p:nvSpPr>
        <p:spPr>
          <a:xfrm>
            <a:off x="7223760" y="2651760"/>
            <a:ext cx="3108960" cy="3108960"/>
          </a:xfrm>
          <a:prstGeom prst="ellipse">
            <a:avLst/>
          </a:prstGeom>
          <a:solidFill>
            <a:schemeClr val="accent2">
              <a:alpha val="70000"/>
            </a:schemeClr>
          </a:solidFill>
          <a:ln w="12700">
            <a:solidFill>
              <a:schemeClr val="accent2">
                <a:alpha val="0"/>
              </a:scheme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097280"/>
            <a:ext cx="6400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Stratégie de gouvernance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Microsoft 365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83464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Contrôler la création des espaces collaboratifs et réduire les risques de sécurité, de conformité et de prolifération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206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SharePoint · Teams · OneDrive · Entra ID · Purview · Copilot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L'essentiel en un coup d'œil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Libre accès à la collaboration, pas libre création de l'infrastructure.</a:t>
            </a:r>
            <a:endParaRPr lang="en-US" sz="1600" dirty="0"/>
          </a:p>
        </p:txBody>
      </p:sp>
      <p:sp>
        <p:nvSpPr>
          <p:cNvPr id="4" name="Carte"/>
          <p:cNvSpPr/>
          <p:nvPr/>
        </p:nvSpPr>
        <p:spPr>
          <a:xfrm>
            <a:off x="457200" y="1600200"/>
            <a:ext cx="192024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7373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100 %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5603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des espaces créés via un portail TI</a:t>
            </a:r>
            <a:endParaRPr lang="en-US" sz="1300" dirty="0"/>
          </a:p>
        </p:txBody>
      </p:sp>
      <p:sp>
        <p:nvSpPr>
          <p:cNvPr id="7" name="Carte"/>
          <p:cNvSpPr/>
          <p:nvPr/>
        </p:nvSpPr>
        <p:spPr>
          <a:xfrm>
            <a:off x="2560320" y="1600200"/>
            <a:ext cx="192024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60320" y="17373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2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2697480" y="25603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propriétaires par site ou Team</a:t>
            </a:r>
            <a:endParaRPr lang="en-US" sz="1300" dirty="0"/>
          </a:p>
        </p:txBody>
      </p:sp>
      <p:sp>
        <p:nvSpPr>
          <p:cNvPr id="10" name="Carte"/>
          <p:cNvSpPr/>
          <p:nvPr/>
        </p:nvSpPr>
        <p:spPr>
          <a:xfrm>
            <a:off x="4663440" y="1600200"/>
            <a:ext cx="192024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63440" y="17373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25603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lien anonyme ou « Anyone »</a:t>
            </a:r>
            <a:endParaRPr lang="en-US" sz="1300" dirty="0"/>
          </a:p>
        </p:txBody>
      </p:sp>
      <p:sp>
        <p:nvSpPr>
          <p:cNvPr id="13" name="Carte"/>
          <p:cNvSpPr/>
          <p:nvPr/>
        </p:nvSpPr>
        <p:spPr>
          <a:xfrm>
            <a:off x="6766560" y="1600200"/>
            <a:ext cx="192024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66560" y="17373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4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25603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phases de mise en œuvre sur 9 à 12 mois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5204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Portail unique, approbations, provisioning automatisé par Graph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Gabarits standards : sécurité, rétention et étiquettes dès la création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Zero Trust pour l'externe, OneDrive strictement interne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Nettoyage des accès et Purview avant le déploiement de Copilot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risques du libre-service</a:t>
            </a:r>
            <a:endParaRPr lang="en-US" sz="3000" dirty="0"/>
          </a:p>
        </p:txBody>
      </p:sp>
      <p:sp>
        <p:nvSpPr>
          <p:cNvPr id="3" name="Carte"/>
          <p:cNvSpPr/>
          <p:nvPr/>
        </p:nvSpPr>
        <p:spPr>
          <a:xfrm>
            <a:off x="457200" y="1143000"/>
            <a:ext cx="265176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34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Prolifération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581912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Teams, Groupes et sites dupliqués, rarement utilisés</a:t>
            </a:r>
            <a:endParaRPr lang="en-US" sz="1400" dirty="0"/>
          </a:p>
        </p:txBody>
      </p:sp>
      <p:sp>
        <p:nvSpPr>
          <p:cNvPr id="6" name="Carte"/>
          <p:cNvSpPr/>
          <p:nvPr/>
        </p:nvSpPr>
        <p:spPr>
          <a:xfrm>
            <a:off x="3246120" y="1143000"/>
            <a:ext cx="265176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83280" y="1234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Sites orphelins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1581912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 seul propriétaire, départ, plus de responsable</a:t>
            </a:r>
            <a:endParaRPr lang="en-US" sz="1400" dirty="0"/>
          </a:p>
        </p:txBody>
      </p:sp>
      <p:sp>
        <p:nvSpPr>
          <p:cNvPr id="9" name="Carte"/>
          <p:cNvSpPr/>
          <p:nvPr/>
        </p:nvSpPr>
        <p:spPr>
          <a:xfrm>
            <a:off x="6035040" y="1143000"/>
            <a:ext cx="265176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72200" y="1234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Surpartage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1581912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Liens « Anyone » ou organisation entière, permissions uniques</a:t>
            </a:r>
            <a:endParaRPr lang="en-US" sz="1400" dirty="0"/>
          </a:p>
        </p:txBody>
      </p:sp>
      <p:sp>
        <p:nvSpPr>
          <p:cNvPr id="12" name="Carte"/>
          <p:cNvSpPr/>
          <p:nvPr/>
        </p:nvSpPr>
        <p:spPr>
          <a:xfrm>
            <a:off x="457200" y="2880360"/>
            <a:ext cx="265176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9718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Invités non maîtrisés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3319272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Invitations directes, sans validation ni expiration</a:t>
            </a:r>
            <a:endParaRPr lang="en-US" sz="1400" dirty="0"/>
          </a:p>
        </p:txBody>
      </p:sp>
      <p:sp>
        <p:nvSpPr>
          <p:cNvPr id="15" name="Carte"/>
          <p:cNvSpPr/>
          <p:nvPr/>
        </p:nvSpPr>
        <p:spPr>
          <a:xfrm>
            <a:off x="3246120" y="2880360"/>
            <a:ext cx="265176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383280" y="29718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Non-conformité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383280" y="3319272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Pas de classification ni de rétention cohérentes</a:t>
            </a:r>
            <a:endParaRPr lang="en-US" sz="1400" dirty="0"/>
          </a:p>
        </p:txBody>
      </p:sp>
      <p:sp>
        <p:nvSpPr>
          <p:cNvPr id="18" name="Carte"/>
          <p:cNvSpPr/>
          <p:nvPr/>
        </p:nvSpPr>
        <p:spPr>
          <a:xfrm>
            <a:off x="6035040" y="2880360"/>
            <a:ext cx="265176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172200" y="29718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Recherche dégradée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172200" y="3319272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Doublons, brouillons, contenu obsolète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Un Team = un Groupe M365 = un site SharePoint, plus Planner et boîte partagée : chaque création anodine ajoute 4 à 6 objets à gouverner.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Copilot révèle les erreurs de permissions</a:t>
            </a:r>
            <a:endParaRPr lang="en-US" sz="3000" dirty="0"/>
          </a:p>
        </p:txBody>
      </p:sp>
      <p:sp>
        <p:nvSpPr>
          <p:cNvPr id="3" name="Carte"/>
          <p:cNvSpPr/>
          <p:nvPr/>
        </p:nvSpPr>
        <p:spPr>
          <a:xfrm>
            <a:off x="457200" y="1143000"/>
            <a:ext cx="402336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Sans gouvernance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9164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Sécurité par obscurité : le contenu mal protégé devient trouvable en une question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Contenu obsolète ou dupliqué : réponses de moindre qualité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Fuite involontaire de données RH, finance, juridique dans des résumés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Aucune visibilité sur qui voit quoi</a:t>
            </a:r>
            <a:endParaRPr lang="en-US" sz="1400" dirty="0"/>
          </a:p>
        </p:txBody>
      </p:sp>
      <p:sp>
        <p:nvSpPr>
          <p:cNvPr id="6" name="Carte"/>
          <p:cNvSpPr/>
          <p:nvPr/>
        </p:nvSpPr>
        <p:spPr>
          <a:xfrm>
            <a:off x="4663440" y="1143000"/>
            <a:ext cx="4023360" cy="3291840"/>
          </a:xfrm>
          <a:prstGeom prst="roundRect">
            <a:avLst>
              <a:gd name="adj" fmla="val 222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Avec gouvernance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69164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Permissions saines et revues par les propriétaires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Étiquettes de sensibilité et DLP appliquées dès la création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Contenu classé, à jour, archivé quand inactif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Déploiement progressif conditionné au nettoyage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Bloquer la création libre : portail TI</a:t>
            </a:r>
            <a:endParaRPr lang="en-US" sz="3000" dirty="0"/>
          </a:p>
        </p:txBody>
      </p:sp>
      <p:sp>
        <p:nvSpPr>
          <p:cNvPr id="3" name="Carte"/>
          <p:cNvSpPr/>
          <p:nvPr/>
        </p:nvSpPr>
        <p:spPr>
          <a:xfrm>
            <a:off x="457200" y="1143000"/>
            <a:ext cx="402336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344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Création directe bloquée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581912"/>
            <a:ext cx="3749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• Groupes M365 (Entra : EnableGroupCreation = false)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• Sites SharePoint (création en libre-service désactivée)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• Teams (découle du blocage des Groupes)</a:t>
            </a:r>
            <a:endParaRPr lang="en-US" sz="1300" dirty="0"/>
          </a:p>
        </p:txBody>
      </p:sp>
      <p:sp>
        <p:nvSpPr>
          <p:cNvPr id="6" name="Carte"/>
          <p:cNvSpPr/>
          <p:nvPr/>
        </p:nvSpPr>
        <p:spPr>
          <a:xfrm>
            <a:off x="457200" y="3017520"/>
            <a:ext cx="402336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31089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Contournements fermés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3456432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Rôles admin sous PIM, DLP Power Platform, aucun sous-site, audit Purview</a:t>
            </a:r>
            <a:endParaRPr lang="en-US" sz="1300" dirty="0"/>
          </a:p>
        </p:txBody>
      </p:sp>
      <p:sp>
        <p:nvSpPr>
          <p:cNvPr id="9" name="Carte"/>
          <p:cNvSpPr/>
          <p:nvPr/>
        </p:nvSpPr>
        <p:spPr>
          <a:xfrm>
            <a:off x="4663440" y="1143000"/>
            <a:ext cx="4023360" cy="3337560"/>
          </a:xfrm>
          <a:prstGeom prst="roundRect">
            <a:avLst>
              <a:gd name="adj" fmla="val 219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00600" y="12344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Portail unique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1581912"/>
            <a:ext cx="3749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Option A : Power Apps + Dataverse + Power Automate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Option B : ServiceNow + Flow Designer + Graph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Authentification Entra ID, formulaire pré-rempli, registre central des espaces, journalisation de chaque étape.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Provisioning par identité applicative au moindre privilège (Sites.Selected), jamais par un compte humain.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processus : de la demande à la notification</a:t>
            </a:r>
            <a:endParaRPr lang="en-US" sz="3000" dirty="0"/>
          </a:p>
        </p:txBody>
      </p:sp>
      <p:sp>
        <p:nvSpPr>
          <p:cNvPr id="3" name="Pastille"/>
          <p:cNvSpPr/>
          <p:nvPr/>
        </p:nvSpPr>
        <p:spPr>
          <a:xfrm>
            <a:off x="822960" y="123444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234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5" name="Flèche"/>
          <p:cNvSpPr/>
          <p:nvPr/>
        </p:nvSpPr>
        <p:spPr>
          <a:xfrm>
            <a:off x="1417320" y="1508760"/>
            <a:ext cx="77724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6" name="Text 4"/>
          <p:cNvSpPr txBox="1"/>
          <p:nvPr/>
        </p:nvSpPr>
        <p:spPr>
          <a:xfrm>
            <a:off x="457200" y="19659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Demande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75488" y="2331720"/>
            <a:ext cx="12435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Type, nom, ≥ 2 propriétaires, sensibilité, invités</a:t>
            </a:r>
            <a:endParaRPr lang="en-US" sz="1100" dirty="0"/>
          </a:p>
        </p:txBody>
      </p:sp>
      <p:sp>
        <p:nvSpPr>
          <p:cNvPr id="8" name="Pastille"/>
          <p:cNvSpPr/>
          <p:nvPr/>
        </p:nvSpPr>
        <p:spPr>
          <a:xfrm>
            <a:off x="2194560" y="12344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194560" y="1234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0" name="Flèche"/>
          <p:cNvSpPr/>
          <p:nvPr/>
        </p:nvSpPr>
        <p:spPr>
          <a:xfrm>
            <a:off x="2788920" y="1508760"/>
            <a:ext cx="77724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1828800" y="19659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Approbation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847088" y="2331720"/>
            <a:ext cx="12435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Gestionnaire, TI, sécurité si requis</a:t>
            </a:r>
            <a:endParaRPr lang="en-US" sz="1100" dirty="0"/>
          </a:p>
        </p:txBody>
      </p:sp>
      <p:sp>
        <p:nvSpPr>
          <p:cNvPr id="13" name="Pastille"/>
          <p:cNvSpPr/>
          <p:nvPr/>
        </p:nvSpPr>
        <p:spPr>
          <a:xfrm>
            <a:off x="3566160" y="123444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566160" y="1234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5" name="Flèche"/>
          <p:cNvSpPr/>
          <p:nvPr/>
        </p:nvSpPr>
        <p:spPr>
          <a:xfrm>
            <a:off x="4160520" y="1508760"/>
            <a:ext cx="77724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3200400" y="19659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Vérification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218688" y="2331720"/>
            <a:ext cx="12435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Nom unique, propriétaires, gabarit, date de fin</a:t>
            </a:r>
            <a:endParaRPr lang="en-US" sz="1100" dirty="0"/>
          </a:p>
        </p:txBody>
      </p:sp>
      <p:sp>
        <p:nvSpPr>
          <p:cNvPr id="18" name="Pastille"/>
          <p:cNvSpPr/>
          <p:nvPr/>
        </p:nvSpPr>
        <p:spPr>
          <a:xfrm>
            <a:off x="4937760" y="12344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937760" y="1234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20" name="Flèche"/>
          <p:cNvSpPr/>
          <p:nvPr/>
        </p:nvSpPr>
        <p:spPr>
          <a:xfrm>
            <a:off x="5532120" y="1508760"/>
            <a:ext cx="77724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4572000" y="19659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Création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590288" y="2331720"/>
            <a:ext cx="12435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Graph : Groupe, site, Team, gabarit, Hub, étiquette</a:t>
            </a:r>
            <a:endParaRPr lang="en-US" sz="1100" dirty="0"/>
          </a:p>
        </p:txBody>
      </p:sp>
      <p:sp>
        <p:nvSpPr>
          <p:cNvPr id="23" name="Pastille"/>
          <p:cNvSpPr/>
          <p:nvPr/>
        </p:nvSpPr>
        <p:spPr>
          <a:xfrm>
            <a:off x="6309360" y="123444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309360" y="1234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25" name="Flèche"/>
          <p:cNvSpPr/>
          <p:nvPr/>
        </p:nvSpPr>
        <p:spPr>
          <a:xfrm>
            <a:off x="6903720" y="1508760"/>
            <a:ext cx="77724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5943600" y="19659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Propriétaires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961888" y="2331720"/>
            <a:ext cx="12435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Confirmés à la création, accusé de rôle</a:t>
            </a:r>
            <a:endParaRPr lang="en-US" sz="1100" dirty="0"/>
          </a:p>
        </p:txBody>
      </p:sp>
      <p:sp>
        <p:nvSpPr>
          <p:cNvPr id="28" name="Pastille"/>
          <p:cNvSpPr/>
          <p:nvPr/>
        </p:nvSpPr>
        <p:spPr>
          <a:xfrm>
            <a:off x="7680960" y="12344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680960" y="1234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6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7315200" y="19659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Notification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333488" y="2331720"/>
            <a:ext cx="12435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Lien, guide, date de revue, registre</a:t>
            </a:r>
            <a:endParaRPr lang="en-US" sz="1100" dirty="0"/>
          </a:p>
        </p:txBody>
      </p:sp>
      <p:sp>
        <p:nvSpPr>
          <p:cNvPr id="32" name="Carte"/>
          <p:cNvSpPr/>
          <p:nvPr/>
        </p:nvSpPr>
        <p:spPr>
          <a:xfrm>
            <a:off x="457200" y="3749040"/>
            <a:ext cx="822960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0080" y="379476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Validation sécurité obligatoire si : Extranet, invités externes, sensibilité Confidentiel+, données réglementées, dérogation. SLA : 2 jours par étape, rappel à 24 h, escalade à 48 h.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Catalogue : cinq types d'espaces autorisés</a:t>
            </a:r>
            <a:endParaRPr lang="en-US" sz="3000" dirty="0"/>
          </a:p>
        </p:txBody>
      </p:sp>
      <p:graphicFrame>
        <p:nvGraphicFramePr>
          <p:cNvPr id="8" name="Catalogu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651760"/>
                <a:gridCol w="2834640"/>
                <a:gridCol w="10058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Type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Usage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Caractéristiques clés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Revue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Équipe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Collaboration permanente, gestion documentaire, Teams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Privé, membres internes uniquement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Annuelle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Projet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Projet temporaire, équipe multidisciplinaire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Date de fin obligatoire (max 24 mois)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Semestrielle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Communication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Diffusion d'information, portail départemental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Peu de contributeurs, beaucoup de lecteurs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Annuelle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Communauté de pratique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Partage de connaissances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Animateur + co-animateur, lecture ouverte aux internes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Annuelle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Extranet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Collaboration avec partenaires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Approbation sécurité, invités Entra, expiration, gouvernance renforcée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Trimestrielle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1"/>
                </a:solidFill>
              </a:rPr>
              <a:t>Toute autre demande est une dérogation arbitrée par le comité de gouvernance.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Gabarits : la sécurité dès la naissance du site</a:t>
            </a:r>
            <a:endParaRPr lang="en-US" sz="3000" dirty="0"/>
          </a:p>
        </p:txBody>
      </p:sp>
      <p:sp>
        <p:nvSpPr>
          <p:cNvPr id="3" name="Carte"/>
          <p:cNvSpPr/>
          <p:nvPr/>
        </p:nvSpPr>
        <p:spPr>
          <a:xfrm>
            <a:off x="457200" y="1097280"/>
            <a:ext cx="265176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188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Bibliothèques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53619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Préconfigurées par type (livrables, procédures, archives)</a:t>
            </a:r>
            <a:endParaRPr lang="en-US" sz="1200" dirty="0"/>
          </a:p>
        </p:txBody>
      </p:sp>
      <p:sp>
        <p:nvSpPr>
          <p:cNvPr id="6" name="Carte"/>
          <p:cNvSpPr/>
          <p:nvPr/>
        </p:nvSpPr>
        <p:spPr>
          <a:xfrm>
            <a:off x="3246120" y="1097280"/>
            <a:ext cx="265176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83280" y="1188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Métadonnées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153619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Direction, type, statut, propriétaire, classification</a:t>
            </a:r>
            <a:endParaRPr lang="en-US" sz="1200" dirty="0"/>
          </a:p>
        </p:txBody>
      </p:sp>
      <p:sp>
        <p:nvSpPr>
          <p:cNvPr id="9" name="Carte"/>
          <p:cNvSpPr/>
          <p:nvPr/>
        </p:nvSpPr>
        <p:spPr>
          <a:xfrm>
            <a:off x="6035040" y="1097280"/>
            <a:ext cx="265176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72200" y="1188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Sensibilité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153619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Étiquette par défaut selon le type</a:t>
            </a:r>
            <a:endParaRPr lang="en-US" sz="1200" dirty="0"/>
          </a:p>
        </p:txBody>
      </p:sp>
      <p:sp>
        <p:nvSpPr>
          <p:cNvPr id="12" name="Carte"/>
          <p:cNvSpPr/>
          <p:nvPr/>
        </p:nvSpPr>
        <p:spPr>
          <a:xfrm>
            <a:off x="457200" y="2331720"/>
            <a:ext cx="265176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423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Rétention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277063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Politique appliquée à la création</a:t>
            </a:r>
            <a:endParaRPr lang="en-US" sz="1200" dirty="0"/>
          </a:p>
        </p:txBody>
      </p:sp>
      <p:sp>
        <p:nvSpPr>
          <p:cNvPr id="15" name="Carte"/>
          <p:cNvSpPr/>
          <p:nvPr/>
        </p:nvSpPr>
        <p:spPr>
          <a:xfrm>
            <a:off x="3246120" y="2331720"/>
            <a:ext cx="265176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383280" y="2423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Permissions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383280" y="277063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Propriétaires, membres, visiteurs ; pas de permissions uniques</a:t>
            </a:r>
            <a:endParaRPr lang="en-US" sz="1200" dirty="0"/>
          </a:p>
        </p:txBody>
      </p:sp>
      <p:sp>
        <p:nvSpPr>
          <p:cNvPr id="18" name="Carte"/>
          <p:cNvSpPr/>
          <p:nvPr/>
        </p:nvSpPr>
        <p:spPr>
          <a:xfrm>
            <a:off x="6035040" y="2331720"/>
            <a:ext cx="265176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172200" y="2423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Navigation et branding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172200" y="277063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Hub de la direction, thème corporatif</a:t>
            </a:r>
            <a:endParaRPr lang="en-US" sz="1200" dirty="0"/>
          </a:p>
        </p:txBody>
      </p:sp>
      <p:sp>
        <p:nvSpPr>
          <p:cNvPr id="21" name="Carte"/>
          <p:cNvSpPr/>
          <p:nvPr/>
        </p:nvSpPr>
        <p:spPr>
          <a:xfrm>
            <a:off x="457200" y="3657600"/>
            <a:ext cx="192024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370332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Standardisation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même structure partout</a:t>
            </a:r>
            <a:endParaRPr lang="en-US" sz="1400" dirty="0"/>
          </a:p>
        </p:txBody>
      </p:sp>
      <p:sp>
        <p:nvSpPr>
          <p:cNvPr id="23" name="Carte"/>
          <p:cNvSpPr/>
          <p:nvPr/>
        </p:nvSpPr>
        <p:spPr>
          <a:xfrm>
            <a:off x="2560320" y="3657600"/>
            <a:ext cx="192024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651760" y="370332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Gouvernance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conformité par conception</a:t>
            </a:r>
            <a:endParaRPr lang="en-US" sz="1400" dirty="0"/>
          </a:p>
        </p:txBody>
      </p:sp>
      <p:sp>
        <p:nvSpPr>
          <p:cNvPr id="25" name="Carte"/>
          <p:cNvSpPr/>
          <p:nvPr/>
        </p:nvSpPr>
        <p:spPr>
          <a:xfrm>
            <a:off x="4663440" y="3657600"/>
            <a:ext cx="192024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754880" y="370332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Adoption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espace prêt à l'emploi</a:t>
            </a:r>
            <a:endParaRPr lang="en-US" sz="1400" dirty="0"/>
          </a:p>
        </p:txBody>
      </p:sp>
      <p:sp>
        <p:nvSpPr>
          <p:cNvPr id="27" name="Carte"/>
          <p:cNvSpPr/>
          <p:nvPr/>
        </p:nvSpPr>
        <p:spPr>
          <a:xfrm>
            <a:off x="6766560" y="3657600"/>
            <a:ext cx="192024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58000" y="370332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Moins de risques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plus de configuration improvisée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Gouvernance SharePoint</a:t>
            </a:r>
            <a:endParaRPr lang="en-US" sz="3000" dirty="0"/>
          </a:p>
        </p:txBody>
      </p:sp>
      <p:sp>
        <p:nvSpPr>
          <p:cNvPr id="3" name="Carte"/>
          <p:cNvSpPr/>
          <p:nvPr/>
        </p:nvSpPr>
        <p:spPr>
          <a:xfrm>
            <a:off x="457200" y="1097280"/>
            <a:ext cx="402336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188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Nommage et propriétaires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536192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Format [Type]-[Direction]-[Nom] (EQ-RH-Recrutement). Minimum 2 propriétaires actifs, contrôle mensuel, revue annuelle des accès.</a:t>
            </a:r>
            <a:endParaRPr lang="en-US" sz="1300" dirty="0"/>
          </a:p>
        </p:txBody>
      </p:sp>
      <p:sp>
        <p:nvSpPr>
          <p:cNvPr id="6" name="Carte"/>
          <p:cNvSpPr/>
          <p:nvPr/>
        </p:nvSpPr>
        <p:spPr>
          <a:xfrm>
            <a:off x="457200" y="2834640"/>
            <a:ext cx="402336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9260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Orphelins, archivage, suppression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3273552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Orphelin : 14 jours pour désigner un propriétaire. Inactif 12 mois : avis, lecture seule, archivage, suppression à 18 mois (sauf gel légal).</a:t>
            </a:r>
            <a:endParaRPr lang="en-US" sz="1300" dirty="0"/>
          </a:p>
        </p:txBody>
      </p:sp>
      <p:sp>
        <p:nvSpPr>
          <p:cNvPr id="9" name="Carte"/>
          <p:cNvSpPr/>
          <p:nvPr/>
        </p:nvSpPr>
        <p:spPr>
          <a:xfrm>
            <a:off x="4663440" y="1097280"/>
            <a:ext cx="402336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00600" y="1188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Architecture d'information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1536192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Un Hub par direction, architecture plate sans sous-sites. Le Hub ne donne aucune permission.</a:t>
            </a:r>
            <a:endParaRPr lang="en-US" sz="1300" dirty="0"/>
          </a:p>
        </p:txBody>
      </p:sp>
      <p:sp>
        <p:nvSpPr>
          <p:cNvPr id="12" name="Carte"/>
          <p:cNvSpPr/>
          <p:nvPr/>
        </p:nvSpPr>
        <p:spPr>
          <a:xfrm>
            <a:off x="4663440" y="2834640"/>
            <a:ext cx="402336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00600" y="29260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Contenu et gestion documentaire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3273552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Métadonnées obligatoires, types de contenu centralisés, versionnage limité à 100, étiquettes de rétention, dossiers sur 3 niveaux maximum.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Gouvernance Microsoft Teams</a:t>
            </a:r>
            <a:endParaRPr lang="en-US" sz="3000" dirty="0"/>
          </a:p>
        </p:txBody>
      </p:sp>
      <p:sp>
        <p:nvSpPr>
          <p:cNvPr id="3" name="Carte"/>
          <p:cNvSpPr/>
          <p:nvPr/>
        </p:nvSpPr>
        <p:spPr>
          <a:xfrm>
            <a:off x="457200" y="1097280"/>
            <a:ext cx="26517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188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Création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536192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Modèles approuvés seulement, via le portail. Nom identique au site.</a:t>
            </a:r>
            <a:endParaRPr lang="en-US" sz="1300" dirty="0"/>
          </a:p>
        </p:txBody>
      </p:sp>
      <p:sp>
        <p:nvSpPr>
          <p:cNvPr id="6" name="Carte"/>
          <p:cNvSpPr/>
          <p:nvPr/>
        </p:nvSpPr>
        <p:spPr>
          <a:xfrm>
            <a:off x="3246120" y="1097280"/>
            <a:ext cx="26517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83280" y="1188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Propriétaires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1536192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2 minimum, alerte si un seul reste. Invités : Entra approuvés par la TI.</a:t>
            </a:r>
            <a:endParaRPr lang="en-US" sz="1300" dirty="0"/>
          </a:p>
        </p:txBody>
      </p:sp>
      <p:sp>
        <p:nvSpPr>
          <p:cNvPr id="9" name="Carte"/>
          <p:cNvSpPr/>
          <p:nvPr/>
        </p:nvSpPr>
        <p:spPr>
          <a:xfrm>
            <a:off x="6035040" y="1097280"/>
            <a:ext cx="26517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72200" y="1188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Archivage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1536192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Inactif 6 mois : avis 30 jours puis archivage. Projets archivés à la date de fin.</a:t>
            </a:r>
            <a:endParaRPr lang="en-US" sz="1300" dirty="0"/>
          </a:p>
        </p:txBody>
      </p:sp>
      <p:sp>
        <p:nvSpPr>
          <p:cNvPr id="12" name="Carte"/>
          <p:cNvSpPr/>
          <p:nvPr/>
        </p:nvSpPr>
        <p:spPr>
          <a:xfrm>
            <a:off x="457200" y="2880360"/>
            <a:ext cx="40233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9718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Canaux privés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3319272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Max 5 par équipe, créés par les propriétaires, étiquette héritée, inclus dans le registre et les revues. Besoin fort de confidentialité : site distinct.</a:t>
            </a:r>
            <a:endParaRPr lang="en-US" sz="1300" dirty="0"/>
          </a:p>
        </p:txBody>
      </p:sp>
      <p:sp>
        <p:nvSpPr>
          <p:cNvPr id="15" name="Carte"/>
          <p:cNvSpPr/>
          <p:nvPr/>
        </p:nvSpPr>
        <p:spPr>
          <a:xfrm>
            <a:off x="4663440" y="2880360"/>
            <a:ext cx="40233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00600" y="29718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Canaux partagés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800600" y="3319272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Internes : approbation du propriétaire. Externes : désactivés par défaut, liste d'autorisation inter-tenants validée par la sécurité.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OneDrive : posture restrictive</a:t>
            </a:r>
            <a:endParaRPr lang="en-US" sz="3000" dirty="0"/>
          </a:p>
        </p:txBody>
      </p:sp>
      <p:sp>
        <p:nvSpPr>
          <p:cNvPr id="3" name="Carte"/>
          <p:cNvSpPr/>
          <p:nvPr/>
        </p:nvSpPr>
        <p:spPr>
          <a:xfrm>
            <a:off x="457200" y="1097280"/>
            <a:ext cx="4023360" cy="3429000"/>
          </a:xfrm>
          <a:prstGeom prst="roundRect">
            <a:avLst>
              <a:gd name="adj" fmla="val 21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188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OneDrive : personnel et temporaire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536192"/>
            <a:ext cx="3749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• Aucun partage externe, aucun lien anonyme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• Partage interne uniquement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• Synchronisation limitée aux appareils conformes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• Known Folder Move activé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• Départ : le gestionnaire hérite 90 jours, contenu transféré vers un site gouverné</a:t>
            </a:r>
            <a:endParaRPr lang="en-US" sz="1400" dirty="0"/>
          </a:p>
        </p:txBody>
      </p:sp>
      <p:sp>
        <p:nvSpPr>
          <p:cNvPr id="6" name="Carte"/>
          <p:cNvSpPr/>
          <p:nvPr/>
        </p:nvSpPr>
        <p:spPr>
          <a:xfrm>
            <a:off x="4663440" y="1097280"/>
            <a:ext cx="4023360" cy="1965960"/>
          </a:xfrm>
          <a:prstGeom prst="roundRect">
            <a:avLst>
              <a:gd name="adj" fmla="val 372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00600" y="1188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SharePoint : collaboration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800600" y="1536192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Tout contenu partagé, officiel ou externe vit dans un site gouverné (Extranet pour les partenaires).</a:t>
            </a:r>
            <a:endParaRPr lang="en-US" sz="1400" dirty="0"/>
          </a:p>
        </p:txBody>
      </p:sp>
      <p:sp>
        <p:nvSpPr>
          <p:cNvPr id="9" name="Carte"/>
          <p:cNvSpPr/>
          <p:nvPr/>
        </p:nvSpPr>
        <p:spPr>
          <a:xfrm>
            <a:off x="4663440" y="3200400"/>
            <a:ext cx="402336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00600" y="32918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Risques de OneDrive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363931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Données corporatives en silos, gouvernance impossible à l'échelle, perte au départ des employés.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Partage externe : Zero Trust</a:t>
            </a:r>
            <a:endParaRPr lang="en-US" sz="3000" dirty="0"/>
          </a:p>
        </p:txBody>
      </p:sp>
      <p:sp>
        <p:nvSpPr>
          <p:cNvPr id="3" name="Carte"/>
          <p:cNvSpPr/>
          <p:nvPr/>
        </p:nvSpPr>
        <p:spPr>
          <a:xfrm>
            <a:off x="457200" y="1097280"/>
            <a:ext cx="265176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188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Autorisé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536192"/>
            <a:ext cx="2377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Invités déjà présents dans Entra ID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Invités approuvés par la TI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Liens « Personnes spécifiques »</a:t>
            </a:r>
            <a:endParaRPr lang="en-US" sz="1300" dirty="0"/>
          </a:p>
        </p:txBody>
      </p:sp>
      <p:sp>
        <p:nvSpPr>
          <p:cNvPr id="6" name="Carte"/>
          <p:cNvSpPr/>
          <p:nvPr/>
        </p:nvSpPr>
        <p:spPr>
          <a:xfrm>
            <a:off x="3246120" y="1097280"/>
            <a:ext cx="265176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83280" y="1188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Interdit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1536192"/>
            <a:ext cx="2377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Liens anonymes et « Anyone »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Adresses externes inconnues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Invitation directe sans validation TI</a:t>
            </a:r>
            <a:endParaRPr lang="en-US" sz="1300" dirty="0"/>
          </a:p>
        </p:txBody>
      </p:sp>
      <p:sp>
        <p:nvSpPr>
          <p:cNvPr id="9" name="Carte"/>
          <p:cNvSpPr/>
          <p:nvPr/>
        </p:nvSpPr>
        <p:spPr>
          <a:xfrm>
            <a:off x="6035040" y="1097280"/>
            <a:ext cx="2651760" cy="201168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72200" y="1188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Réglages tenant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1536192"/>
            <a:ext cx="2377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Invités existants seulement, liens d'invité 30 jours, domaines en liste d'autorisation, invitations réservées aux TI</a:t>
            </a:r>
            <a:endParaRPr lang="en-US" sz="1200" dirty="0"/>
          </a:p>
        </p:txBody>
      </p:sp>
      <p:sp>
        <p:nvSpPr>
          <p:cNvPr id="12" name="Étape invité"/>
          <p:cNvSpPr/>
          <p:nvPr/>
        </p:nvSpPr>
        <p:spPr>
          <a:xfrm>
            <a:off x="457200" y="3383280"/>
            <a:ext cx="1463040" cy="109728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38328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Demande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sponsor interne</a:t>
            </a:r>
            <a:endParaRPr lang="en-US" sz="1400" dirty="0"/>
          </a:p>
        </p:txBody>
      </p:sp>
      <p:sp>
        <p:nvSpPr>
          <p:cNvPr id="14" name="Flèche"/>
          <p:cNvSpPr/>
          <p:nvPr/>
        </p:nvSpPr>
        <p:spPr>
          <a:xfrm>
            <a:off x="1938528" y="3931920"/>
            <a:ext cx="146304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5" name="Étape invité"/>
          <p:cNvSpPr/>
          <p:nvPr/>
        </p:nvSpPr>
        <p:spPr>
          <a:xfrm>
            <a:off x="2103120" y="3383280"/>
            <a:ext cx="1463040" cy="109728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103120" y="338328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Validation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TI (+ sécurité)</a:t>
            </a:r>
            <a:endParaRPr lang="en-US" sz="1400" dirty="0"/>
          </a:p>
        </p:txBody>
      </p:sp>
      <p:sp>
        <p:nvSpPr>
          <p:cNvPr id="17" name="Flèche"/>
          <p:cNvSpPr/>
          <p:nvPr/>
        </p:nvSpPr>
        <p:spPr>
          <a:xfrm>
            <a:off x="3584448" y="3931920"/>
            <a:ext cx="146304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8" name="Étape invité"/>
          <p:cNvSpPr/>
          <p:nvPr/>
        </p:nvSpPr>
        <p:spPr>
          <a:xfrm>
            <a:off x="3749040" y="3383280"/>
            <a:ext cx="1463040" cy="109728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749040" y="338328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Accès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MFA, ToU</a:t>
            </a:r>
            <a:endParaRPr lang="en-US" sz="1400" dirty="0"/>
          </a:p>
        </p:txBody>
      </p:sp>
      <p:sp>
        <p:nvSpPr>
          <p:cNvPr id="20" name="Flèche"/>
          <p:cNvSpPr/>
          <p:nvPr/>
        </p:nvSpPr>
        <p:spPr>
          <a:xfrm>
            <a:off x="5230368" y="3931920"/>
            <a:ext cx="146304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1" name="Étape invité"/>
          <p:cNvSpPr/>
          <p:nvPr/>
        </p:nvSpPr>
        <p:spPr>
          <a:xfrm>
            <a:off x="5394960" y="3383280"/>
            <a:ext cx="1463040" cy="109728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394960" y="338328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Revue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trimestrielle</a:t>
            </a:r>
            <a:endParaRPr lang="en-US" sz="1400" dirty="0"/>
          </a:p>
        </p:txBody>
      </p:sp>
      <p:sp>
        <p:nvSpPr>
          <p:cNvPr id="23" name="Flèche"/>
          <p:cNvSpPr/>
          <p:nvPr/>
        </p:nvSpPr>
        <p:spPr>
          <a:xfrm>
            <a:off x="6876288" y="3931920"/>
            <a:ext cx="146304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4" name="Étape invité"/>
          <p:cNvSpPr/>
          <p:nvPr/>
        </p:nvSpPr>
        <p:spPr>
          <a:xfrm>
            <a:off x="7040880" y="3383280"/>
            <a:ext cx="1463040" cy="109728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040880" y="338328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Expiration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90 jours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Sécurité Microsoft 365</a:t>
            </a:r>
            <a:endParaRPr lang="en-US" sz="3000" dirty="0"/>
          </a:p>
        </p:txBody>
      </p:sp>
      <p:sp>
        <p:nvSpPr>
          <p:cNvPr id="3" name="Carte"/>
          <p:cNvSpPr/>
          <p:nvPr/>
        </p:nvSpPr>
        <p:spPr>
          <a:xfrm>
            <a:off x="457200" y="1097280"/>
            <a:ext cx="19659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1887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MFA et PIM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536192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Obligatoire pour tous, MFA résistante au hameçonnage pour les admins</a:t>
            </a:r>
            <a:endParaRPr lang="en-US" sz="1200" dirty="0"/>
          </a:p>
        </p:txBody>
      </p:sp>
      <p:sp>
        <p:nvSpPr>
          <p:cNvPr id="6" name="Carte"/>
          <p:cNvSpPr/>
          <p:nvPr/>
        </p:nvSpPr>
        <p:spPr>
          <a:xfrm>
            <a:off x="2560320" y="1097280"/>
            <a:ext cx="19659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97480" y="11887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Accès conditionnel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697480" y="1536192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Appareils conformes, web limité sinon, politique dédiée aux invités</a:t>
            </a:r>
            <a:endParaRPr lang="en-US" sz="1200" dirty="0"/>
          </a:p>
        </p:txBody>
      </p:sp>
      <p:sp>
        <p:nvSpPr>
          <p:cNvPr id="9" name="Carte"/>
          <p:cNvSpPr/>
          <p:nvPr/>
        </p:nvSpPr>
        <p:spPr>
          <a:xfrm>
            <a:off x="4663440" y="1097280"/>
            <a:ext cx="19659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00600" y="11887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Sensitivity Labels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1536192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4 niveaux, conteneur et fichier, étiquetage automatique</a:t>
            </a:r>
            <a:endParaRPr lang="en-US" sz="1200" dirty="0"/>
          </a:p>
        </p:txBody>
      </p:sp>
      <p:sp>
        <p:nvSpPr>
          <p:cNvPr id="12" name="Carte"/>
          <p:cNvSpPr/>
          <p:nvPr/>
        </p:nvSpPr>
        <p:spPr>
          <a:xfrm>
            <a:off x="6766560" y="1097280"/>
            <a:ext cx="19659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03720" y="11887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DLP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903720" y="1536192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SharePoint, OneDrive, Teams, endpoint, Copilot</a:t>
            </a:r>
            <a:endParaRPr lang="en-US" sz="1200" dirty="0"/>
          </a:p>
        </p:txBody>
      </p:sp>
      <p:sp>
        <p:nvSpPr>
          <p:cNvPr id="15" name="Carte"/>
          <p:cNvSpPr/>
          <p:nvPr/>
        </p:nvSpPr>
        <p:spPr>
          <a:xfrm>
            <a:off x="457200" y="2880360"/>
            <a:ext cx="19659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29718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Audit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3319272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Rétention 1 an, alertes, intégration Sentinel</a:t>
            </a:r>
            <a:endParaRPr lang="en-US" sz="1200" dirty="0"/>
          </a:p>
        </p:txBody>
      </p:sp>
      <p:sp>
        <p:nvSpPr>
          <p:cNvPr id="18" name="Carte"/>
          <p:cNvSpPr/>
          <p:nvPr/>
        </p:nvSpPr>
        <p:spPr>
          <a:xfrm>
            <a:off x="2560320" y="2880360"/>
            <a:ext cx="19659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697480" y="29718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Access Reviews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2697480" y="3319272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Groupes, invités, rôles privilégiés</a:t>
            </a:r>
            <a:endParaRPr lang="en-US" sz="1200" dirty="0"/>
          </a:p>
        </p:txBody>
      </p:sp>
      <p:sp>
        <p:nvSpPr>
          <p:cNvPr id="21" name="Carte"/>
          <p:cNvSpPr/>
          <p:nvPr/>
        </p:nvSpPr>
        <p:spPr>
          <a:xfrm>
            <a:off x="4663440" y="2880360"/>
            <a:ext cx="19659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800600" y="29718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Appareils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800600" y="3319272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Intune, MAM, sync OneDrive sur appareils gérés</a:t>
            </a:r>
            <a:endParaRPr lang="en-US" sz="1200" dirty="0"/>
          </a:p>
        </p:txBody>
      </p:sp>
      <p:sp>
        <p:nvSpPr>
          <p:cNvPr id="24" name="Carte"/>
          <p:cNvSpPr/>
          <p:nvPr/>
        </p:nvSpPr>
        <p:spPr>
          <a:xfrm>
            <a:off x="6766560" y="2880360"/>
            <a:ext cx="19659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903720" y="29718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Purview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903720" y="3319272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Rétention, eDiscovery, Insider Risk, DSPM pour l'IA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Protection appliquée à SharePoint, Teams et OneDrive par étiquettes de conteneur, DLP et accès conditionnel.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Copilot : préparer avant de déployer</a:t>
            </a:r>
            <a:endParaRPr lang="en-US" sz="3000" dirty="0"/>
          </a:p>
        </p:txBody>
      </p:sp>
      <p:sp>
        <p:nvSpPr>
          <p:cNvPr id="3" name="Pastille"/>
          <p:cNvSpPr/>
          <p:nvPr/>
        </p:nvSpPr>
        <p:spPr>
          <a:xfrm>
            <a:off x="914400" y="10972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373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Inventorier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0574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Sites, groupes, propriétaires, invités</a:t>
            </a:r>
            <a:endParaRPr lang="en-US" sz="1200" dirty="0"/>
          </a:p>
        </p:txBody>
      </p:sp>
      <p:sp>
        <p:nvSpPr>
          <p:cNvPr id="7" name="Pastille"/>
          <p:cNvSpPr/>
          <p:nvPr/>
        </p:nvSpPr>
        <p:spPr>
          <a:xfrm>
            <a:off x="2560320" y="10972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60320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103120" y="17373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Mesurer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103120" y="20574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Rapports de surpartage (SAM, DAG)</a:t>
            </a:r>
            <a:endParaRPr lang="en-US" sz="1200" dirty="0"/>
          </a:p>
        </p:txBody>
      </p:sp>
      <p:sp>
        <p:nvSpPr>
          <p:cNvPr id="11" name="Pastille"/>
          <p:cNvSpPr/>
          <p:nvPr/>
        </p:nvSpPr>
        <p:spPr>
          <a:xfrm>
            <a:off x="4206240" y="10972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206240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749040" y="17373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Corriger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749040" y="20574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Retirer les accès larges, revues des propriétaires</a:t>
            </a:r>
            <a:endParaRPr lang="en-US" sz="1200" dirty="0"/>
          </a:p>
        </p:txBody>
      </p:sp>
      <p:sp>
        <p:nvSpPr>
          <p:cNvPr id="15" name="Pastille"/>
          <p:cNvSpPr/>
          <p:nvPr/>
        </p:nvSpPr>
        <p:spPr>
          <a:xfrm>
            <a:off x="5852160" y="10972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852160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394960" y="17373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Protéger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394960" y="20574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Étiquettes, RAC, DLP pour Copilot</a:t>
            </a:r>
            <a:endParaRPr lang="en-US" sz="1200" dirty="0"/>
          </a:p>
        </p:txBody>
      </p:sp>
      <p:sp>
        <p:nvSpPr>
          <p:cNvPr id="19" name="Pastille"/>
          <p:cNvSpPr/>
          <p:nvPr/>
        </p:nvSpPr>
        <p:spPr>
          <a:xfrm>
            <a:off x="7498080" y="10972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98080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040880" y="17373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Déployer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040880" y="20574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Pilote puis vagues, suivi DSPM</a:t>
            </a:r>
            <a:endParaRPr lang="en-US" sz="1200" dirty="0"/>
          </a:p>
        </p:txBody>
      </p:sp>
      <p:sp>
        <p:nvSpPr>
          <p:cNvPr id="23" name="Carte"/>
          <p:cNvSpPr/>
          <p:nvPr/>
        </p:nvSpPr>
        <p:spPr>
          <a:xfrm>
            <a:off x="457200" y="2926080"/>
            <a:ext cx="402336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94360" y="30175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SharePoint Advanced Management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594360" y="3364992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Data Access Governance, Restricted Access Control, politique de sites inactifs, revues d'accès de sites, Microsoft 365 Archive.</a:t>
            </a:r>
            <a:endParaRPr lang="en-US" sz="1200" dirty="0"/>
          </a:p>
        </p:txBody>
      </p:sp>
      <p:sp>
        <p:nvSpPr>
          <p:cNvPr id="26" name="Carte"/>
          <p:cNvSpPr/>
          <p:nvPr/>
        </p:nvSpPr>
        <p:spPr>
          <a:xfrm>
            <a:off x="4663440" y="2926080"/>
            <a:ext cx="402336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800600" y="30175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Restricted Content Discovery et Purview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800600" y="3364992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RCD retire un site de la découverte Copilot sans changer les permissions : filet transitoire, pas un substitut au nettoyage.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Cycle de vie des espaces et des invités</a:t>
            </a:r>
            <a:endParaRPr lang="en-US" sz="3000" dirty="0"/>
          </a:p>
        </p:txBody>
      </p:sp>
      <p:graphicFrame>
        <p:nvGraphicFramePr>
          <p:cNvPr id="16" name="Cycle de vi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508760"/>
                <a:gridCol w="1508760"/>
                <a:gridCol w="1371600"/>
                <a:gridCol w="1371600"/>
                <a:gridCol w="13716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Création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Utilisation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Revue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Archivage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Suppression</a:t>
                      </a:r>
                      <a:endParaRPr lang="en-US" sz="1200" dirty="0"/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Sites</a:t>
                      </a:r>
                      <a:endParaRPr lang="en-US" sz="1100" dirty="0"/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Portail, gabarit, 2 propriétaires</a:t>
                      </a:r>
                      <a:endParaRPr lang="en-US" sz="1100" dirty="0"/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Groupes, métadonnées, SAM</a:t>
                      </a:r>
                      <a:endParaRPr lang="en-US" sz="1100" dirty="0"/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Annuelle ; projet 6 mois</a:t>
                      </a:r>
                      <a:endParaRPr lang="en-US" sz="1100" dirty="0"/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Inactif 12 mois, lecture seule</a:t>
                      </a:r>
                      <a:endParaRPr lang="en-US" sz="1100" dirty="0"/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Après rétention, corbeille 93 j</a:t>
                      </a:r>
                      <a:endParaRPr lang="en-US" sz="1100" dirty="0"/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Teams</a:t>
                      </a:r>
                      <a:endParaRPr lang="en-US" sz="1100" dirty="0"/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Modèle approuvé</a:t>
                      </a:r>
                      <a:endParaRPr lang="en-US" sz="1100" dirty="0"/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Canaux et apps encadrés</a:t>
                      </a:r>
                      <a:endParaRPr lang="en-US" sz="1100" dirty="0"/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Annuelle</a:t>
                      </a:r>
                      <a:endParaRPr lang="en-US" sz="1100" dirty="0"/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Inactif 6 mois</a:t>
                      </a:r>
                      <a:endParaRPr lang="en-US" sz="1100" dirty="0"/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Expiration + rétention</a:t>
                      </a:r>
                      <a:endParaRPr lang="en-US" sz="1100" dirty="0"/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Groupes M365</a:t>
                      </a:r>
                      <a:endParaRPr lang="en-US" sz="1100" dirty="0"/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Graph, nom conforme</a:t>
                      </a:r>
                      <a:endParaRPr lang="en-US" sz="1100" dirty="0"/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Membres gérés par propriétaires</a:t>
                      </a:r>
                      <a:endParaRPr lang="en-US" sz="1100" dirty="0"/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Expiration 365 j</a:t>
                      </a:r>
                      <a:endParaRPr lang="en-US" sz="1100" dirty="0"/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Avec le Team ou site</a:t>
                      </a:r>
                      <a:endParaRPr lang="en-US" sz="1100" dirty="0"/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Restauration 30 jours</a:t>
                      </a:r>
                      <a:endParaRPr lang="en-US" sz="1100" dirty="0"/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Invités</a:t>
                      </a:r>
                      <a:endParaRPr lang="en-US" sz="1100" dirty="0"/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Sponsor, validation TI</a:t>
                      </a:r>
                      <a:endParaRPr lang="en-US" sz="1100" dirty="0"/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Accès minimal, MFA</a:t>
                      </a:r>
                      <a:endParaRPr lang="en-US" sz="1100" dirty="0"/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Trimestrielle</a:t>
                      </a:r>
                      <a:endParaRPr lang="en-US" sz="1100" dirty="0"/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Désactivés à 60 j</a:t>
                      </a:r>
                      <a:endParaRPr lang="en-US" sz="1100" dirty="0"/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Supprimés à 90 j</a:t>
                      </a:r>
                      <a:endParaRPr lang="en-US" sz="1100" dirty="0"/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1"/>
                </a:solidFill>
              </a:rPr>
              <a:t>Un registre central des espaces (états : demandé, actif, en revue, lecture seule, archivé, supprimé) pilote les transitions automatisées.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Matrice RACI</a:t>
            </a:r>
            <a:endParaRPr lang="en-US" sz="3000" dirty="0"/>
          </a:p>
        </p:txBody>
      </p:sp>
      <p:graphicFrame>
        <p:nvGraphicFramePr>
          <p:cNvPr id="17" name="RACI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731520"/>
                <a:gridCol w="914400"/>
                <a:gridCol w="914400"/>
                <a:gridCol w="1005840"/>
                <a:gridCol w="10058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Activité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TI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Sécurité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Gestion.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Proprio.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Utilis.</a:t>
                      </a:r>
                      <a:endParaRPr lang="en-US" sz="12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Politique de gouvernance</a:t>
                      </a:r>
                      <a:endParaRPr lang="en-US" sz="11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R</a:t>
                      </a:r>
                      <a:endParaRPr lang="en-US" sz="11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sz="11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US" sz="11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11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11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Approuver la pertinence d'une demande</a:t>
                      </a:r>
                      <a:endParaRPr lang="en-US" sz="11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11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11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sz="11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US" sz="11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11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Valider conformité au catalogue</a:t>
                      </a:r>
                      <a:endParaRPr lang="en-US" sz="11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R/A</a:t>
                      </a:r>
                      <a:endParaRPr lang="en-US" sz="11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US" sz="11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11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11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11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Valider la sécurité (externe, confidentiel)</a:t>
                      </a:r>
                      <a:endParaRPr lang="en-US" sz="11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US" sz="11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R/A</a:t>
                      </a:r>
                      <a:endParaRPr lang="en-US" sz="11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11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US" sz="11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11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Créer l'espace (provisioning)</a:t>
                      </a:r>
                      <a:endParaRPr lang="en-US" sz="11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R</a:t>
                      </a:r>
                      <a:endParaRPr lang="en-US" sz="11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11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11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11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11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Gérer membres et accès</a:t>
                      </a:r>
                      <a:endParaRPr lang="en-US" sz="11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11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11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11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R/A</a:t>
                      </a:r>
                      <a:endParaRPr lang="en-US" sz="11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11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Approuver un invité</a:t>
                      </a:r>
                      <a:endParaRPr lang="en-US" sz="11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R</a:t>
                      </a:r>
                      <a:endParaRPr lang="en-US" sz="11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sz="11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US" sz="11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US" sz="11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11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Revue des accès</a:t>
                      </a:r>
                      <a:endParaRPr lang="en-US" sz="11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US" sz="11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US" sz="11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sz="11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R</a:t>
                      </a:r>
                      <a:endParaRPr lang="en-US" sz="11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11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Orphelins, archivage, suppression</a:t>
                      </a:r>
                      <a:endParaRPr lang="en-US" sz="11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R</a:t>
                      </a:r>
                      <a:endParaRPr lang="en-US" sz="11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US" sz="11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sz="11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R</a:t>
                      </a:r>
                      <a:endParaRPr lang="en-US" sz="11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11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Purview, Entra (DLP, MFA, étiquettes)</a:t>
                      </a:r>
                      <a:endParaRPr lang="en-US" sz="11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R</a:t>
                      </a:r>
                      <a:endParaRPr lang="en-US" sz="11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sz="11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US" sz="11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11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11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Préparation Copilot</a:t>
                      </a:r>
                      <a:endParaRPr lang="en-US" sz="11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R</a:t>
                      </a:r>
                      <a:endParaRPr lang="en-US" sz="11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sz="11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US" sz="11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R</a:t>
                      </a:r>
                      <a:endParaRPr lang="en-US" sz="11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11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5720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R = Responsable · A = Approbateur · C = Consulté · I = Informé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Feuille de route : six phases sur 9 à 12 mois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1. Bloquer les créations libres</a:t>
            </a:r>
            <a:endParaRPr lang="en-US" sz="1400" dirty="0"/>
          </a:p>
        </p:txBody>
      </p:sp>
      <p:sp>
        <p:nvSpPr>
          <p:cNvPr id="4" name="Barre phase"/>
          <p:cNvSpPr/>
          <p:nvPr/>
        </p:nvSpPr>
        <p:spPr>
          <a:xfrm>
            <a:off x="3426714" y="1188720"/>
            <a:ext cx="404622" cy="320040"/>
          </a:xfrm>
          <a:prstGeom prst="roundRect">
            <a:avLst>
              <a:gd name="adj" fmla="val 1714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904488" y="1188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Sem. 1-4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6916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2. Portail de demande</a:t>
            </a:r>
            <a:endParaRPr lang="en-US" sz="1400" dirty="0"/>
          </a:p>
        </p:txBody>
      </p:sp>
      <p:sp>
        <p:nvSpPr>
          <p:cNvPr id="7" name="Barre phase"/>
          <p:cNvSpPr/>
          <p:nvPr/>
        </p:nvSpPr>
        <p:spPr>
          <a:xfrm>
            <a:off x="3831336" y="1737360"/>
            <a:ext cx="1078992" cy="320040"/>
          </a:xfrm>
          <a:prstGeom prst="roundRect">
            <a:avLst>
              <a:gd name="adj" fmla="val 1714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83480" y="17373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Sem. 4-12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2402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3. Gabarits</a:t>
            </a:r>
            <a:endParaRPr lang="en-US" sz="1400" dirty="0"/>
          </a:p>
        </p:txBody>
      </p:sp>
      <p:sp>
        <p:nvSpPr>
          <p:cNvPr id="10" name="Barre phase"/>
          <p:cNvSpPr/>
          <p:nvPr/>
        </p:nvSpPr>
        <p:spPr>
          <a:xfrm>
            <a:off x="4370832" y="2286000"/>
            <a:ext cx="1078992" cy="320040"/>
          </a:xfrm>
          <a:prstGeom prst="roundRect">
            <a:avLst>
              <a:gd name="adj" fmla="val 1714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522976" y="22860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Sem. 8-16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7889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4. Partage externe</a:t>
            </a:r>
            <a:endParaRPr lang="en-US" sz="1400" dirty="0"/>
          </a:p>
        </p:txBody>
      </p:sp>
      <p:sp>
        <p:nvSpPr>
          <p:cNvPr id="13" name="Barre phase"/>
          <p:cNvSpPr/>
          <p:nvPr/>
        </p:nvSpPr>
        <p:spPr>
          <a:xfrm>
            <a:off x="4910328" y="2834640"/>
            <a:ext cx="1348740" cy="320040"/>
          </a:xfrm>
          <a:prstGeom prst="roundRect">
            <a:avLst>
              <a:gd name="adj" fmla="val 1714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32220" y="28346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Sem. 12-22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3375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5. Déployer Purview</a:t>
            </a:r>
            <a:endParaRPr lang="en-US" sz="1400" dirty="0"/>
          </a:p>
        </p:txBody>
      </p:sp>
      <p:sp>
        <p:nvSpPr>
          <p:cNvPr id="16" name="Barre phase"/>
          <p:cNvSpPr/>
          <p:nvPr/>
        </p:nvSpPr>
        <p:spPr>
          <a:xfrm>
            <a:off x="5449824" y="3383280"/>
            <a:ext cx="2157984" cy="320040"/>
          </a:xfrm>
          <a:prstGeom prst="roundRect">
            <a:avLst>
              <a:gd name="adj" fmla="val 1714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680960" y="33832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Sem. 16-32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8862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6. Préparer Copilot</a:t>
            </a:r>
            <a:endParaRPr lang="en-US" sz="1400" dirty="0"/>
          </a:p>
        </p:txBody>
      </p:sp>
      <p:sp>
        <p:nvSpPr>
          <p:cNvPr id="19" name="Barre phase"/>
          <p:cNvSpPr/>
          <p:nvPr/>
        </p:nvSpPr>
        <p:spPr>
          <a:xfrm>
            <a:off x="6528816" y="3931920"/>
            <a:ext cx="2157984" cy="320040"/>
          </a:xfrm>
          <a:prstGeom prst="roundRect">
            <a:avLst>
              <a:gd name="adj" fmla="val 1714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0" y="39319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762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Sem. 24-40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5262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1"/>
                </a:solidFill>
              </a:rPr>
              <a:t>Critères de sortie : 0 création libre · 100 % via portail · 0 lien anonyme · ≥ 90 % des sites étiquetés · sites sensibles protégés avant Copilot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KPIs et indicateurs de conformité</a:t>
            </a:r>
            <a:endParaRPr lang="en-US" sz="3000" dirty="0"/>
          </a:p>
        </p:txBody>
      </p:sp>
      <p:sp>
        <p:nvSpPr>
          <p:cNvPr id="3" name="Carte"/>
          <p:cNvSpPr/>
          <p:nvPr/>
        </p:nvSpPr>
        <p:spPr>
          <a:xfrm>
            <a:off x="457200" y="1097280"/>
            <a:ext cx="265176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 2 j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828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délai de provisioning</a:t>
            </a:r>
            <a:endParaRPr lang="en-US" sz="1300" dirty="0"/>
          </a:p>
        </p:txBody>
      </p:sp>
      <p:sp>
        <p:nvSpPr>
          <p:cNvPr id="6" name="Carte"/>
          <p:cNvSpPr/>
          <p:nvPr/>
        </p:nvSpPr>
        <p:spPr>
          <a:xfrm>
            <a:off x="3246120" y="1097280"/>
            <a:ext cx="265176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46120" y="11887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98 %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1828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sites avec 2 propriétaires</a:t>
            </a:r>
            <a:endParaRPr lang="en-US" sz="1300" dirty="0"/>
          </a:p>
        </p:txBody>
      </p:sp>
      <p:sp>
        <p:nvSpPr>
          <p:cNvPr id="9" name="Carte"/>
          <p:cNvSpPr/>
          <p:nvPr/>
        </p:nvSpPr>
        <p:spPr>
          <a:xfrm>
            <a:off x="6035040" y="1097280"/>
            <a:ext cx="265176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11887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1828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lien anonyme / partage hors processus</a:t>
            </a:r>
            <a:endParaRPr lang="en-US" sz="1300" dirty="0"/>
          </a:p>
        </p:txBody>
      </p:sp>
      <p:sp>
        <p:nvSpPr>
          <p:cNvPr id="12" name="Carte"/>
          <p:cNvSpPr/>
          <p:nvPr/>
        </p:nvSpPr>
        <p:spPr>
          <a:xfrm>
            <a:off x="457200" y="2514600"/>
            <a:ext cx="265176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6060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95 %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3246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sites étiquetés et sous rétention</a:t>
            </a:r>
            <a:endParaRPr lang="en-US" sz="1300" dirty="0"/>
          </a:p>
        </p:txBody>
      </p:sp>
      <p:sp>
        <p:nvSpPr>
          <p:cNvPr id="15" name="Carte"/>
          <p:cNvSpPr/>
          <p:nvPr/>
        </p:nvSpPr>
        <p:spPr>
          <a:xfrm>
            <a:off x="3246120" y="2514600"/>
            <a:ext cx="265176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246120" y="26060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100 %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3383280" y="3246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MFA et invités avec expiration</a:t>
            </a:r>
            <a:endParaRPr lang="en-US" sz="1300" dirty="0"/>
          </a:p>
        </p:txBody>
      </p:sp>
      <p:sp>
        <p:nvSpPr>
          <p:cNvPr id="18" name="Carte"/>
          <p:cNvSpPr/>
          <p:nvPr/>
        </p:nvSpPr>
        <p:spPr>
          <a:xfrm>
            <a:off x="6035040" y="2514600"/>
            <a:ext cx="265176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035040" y="26060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20" name="Text 18"/>
          <p:cNvSpPr txBox="1"/>
          <p:nvPr/>
        </p:nvSpPr>
        <p:spPr>
          <a:xfrm>
            <a:off x="6172200" y="3246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site sensible en surpartage avant Copilot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Tableau de bord Power BI (Graph, Purview, registre), revue mensuelle par le comité de gouvernance M365.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Décisions à valider par le comité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Interdire la création libre de Groupes, sites et Teams ; portail obligatoire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Limiter le catalogue à 5 types ; gabarits obligatoires ; dérogations par le comité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Minimum 2 propriétaires ; date de fin pour projets et Extranets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OneDrive sans partage externe ; Zero Trust pour l'externe, invités expirant à 90 jours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Étiquettes de sensibilité, MFA et accès conditionnel généralisés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Pas de déploiement large de Copilot avant nettoyage et critères de la phase 6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"/>
          <p:cNvSpPr/>
          <p:nvPr/>
        </p:nvSpPr>
        <p:spPr>
          <a:xfrm>
            <a:off x="6949440" y="-914400"/>
            <a:ext cx="3474720" cy="3474720"/>
          </a:xfrm>
          <a:prstGeom prst="ellipse">
            <a:avLst/>
          </a:prstGeom>
          <a:solidFill>
            <a:schemeClr val="accent1">
              <a:alpha val="65000"/>
            </a:schemeClr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5486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Prochaines étapes</a:t>
            </a:r>
            <a:endParaRPr lang="en-US" sz="3600" dirty="0"/>
          </a:p>
        </p:txBody>
      </p:sp>
      <p:sp>
        <p:nvSpPr>
          <p:cNvPr id="4" name="Pastille"/>
          <p:cNvSpPr/>
          <p:nvPr/>
        </p:nvSpPr>
        <p:spPr>
          <a:xfrm>
            <a:off x="548640" y="155448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5544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Valider la politique et les décisions avec le comité</a:t>
            </a:r>
            <a:endParaRPr lang="en-US" sz="1600" dirty="0"/>
          </a:p>
        </p:txBody>
      </p:sp>
      <p:sp>
        <p:nvSpPr>
          <p:cNvPr id="7" name="Pastille"/>
          <p:cNvSpPr/>
          <p:nvPr/>
        </p:nvSpPr>
        <p:spPr>
          <a:xfrm>
            <a:off x="548640" y="228600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2860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Lancer la phase 1 : inventaire et blocage des créations libres</a:t>
            </a:r>
            <a:endParaRPr lang="en-US" sz="1600" dirty="0"/>
          </a:p>
        </p:txBody>
      </p:sp>
      <p:sp>
        <p:nvSpPr>
          <p:cNvPr id="10" name="Pastille"/>
          <p:cNvSpPr/>
          <p:nvPr/>
        </p:nvSpPr>
        <p:spPr>
          <a:xfrm>
            <a:off x="548640" y="301752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30175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Choisir Power Apps ou ServiceNow pour le portail</a:t>
            </a:r>
            <a:endParaRPr lang="en-US" sz="1600" dirty="0"/>
          </a:p>
        </p:txBody>
      </p:sp>
      <p:sp>
        <p:nvSpPr>
          <p:cNvPr id="13" name="Pastille"/>
          <p:cNvSpPr/>
          <p:nvPr/>
        </p:nvSpPr>
        <p:spPr>
          <a:xfrm>
            <a:off x="548640" y="37490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7490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Confirmer licences (Entra P2, Purview, SAM) et durées de rétention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ouvernance M365">
  <a:themeElements>
    <a:clrScheme name="Gouvernance M365">
      <a:dk1>
        <a:srgbClr val="14212B"/>
      </a:dk1>
      <a:lt1>
        <a:srgbClr val="FFFFFF"/>
      </a:lt1>
      <a:dk2>
        <a:srgbClr val="0B3C49"/>
      </a:dk2>
      <a:lt2>
        <a:srgbClr val="EEF3F6"/>
      </a:lt2>
      <a:accent1>
        <a:srgbClr val="0F7C8C"/>
      </a:accent1>
      <a:accent2>
        <a:srgbClr val="F2A541"/>
      </a:accent2>
      <a:accent3>
        <a:srgbClr val="C8553D"/>
      </a:accent3>
      <a:accent4>
        <a:srgbClr val="5B8E7D"/>
      </a:accent4>
      <a:accent5>
        <a:srgbClr val="3D5A80"/>
      </a:accent5>
      <a:accent6>
        <a:srgbClr val="8D99AE"/>
      </a:accent6>
      <a:hlink>
        <a:srgbClr val="0F7C8C"/>
      </a:hlink>
      <a:folHlink>
        <a:srgbClr val="8D99AE"/>
      </a:folHlink>
    </a:clrScheme>
    <a:fontScheme name="Gouvernance M365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Stratégie de gouvernance Microsoft 365</dc:title>
  <dc:subject>PptxGenJS Presentation</dc:subject>
  <dc:creator>Architecture Microsoft 365</dc:creator>
  <cp:lastModifiedBy>Architecture Microsoft 365</cp:lastModifiedBy>
  <cp:revision>1</cp:revision>
  <dcterms:created xsi:type="dcterms:W3CDTF">2026-10-06T22:10:09Z</dcterms:created>
  <dcterms:modified xsi:type="dcterms:W3CDTF">2026-10-06T22:10:09Z</dcterms:modified>
</cp:coreProperties>
</file>